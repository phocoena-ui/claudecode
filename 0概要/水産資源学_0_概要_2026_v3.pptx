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kinsoku lang="ja-JP" invalStChars="’”）〕］｝〉》」』】〙〗〟｠»)]}‐〜゠–？！‼⁇⁈⁉?!・：；:;。．.、，,ヽヾゝゞ々〻ーぁぃぅぇぉっゃゅょゎゕゖァィゥェォッャュョヮヵヶㇰㇱㇲㇳㇴㇵㇶㇷㇸㇹㇺㇻㇼㇽㇾㇿ％‰°′″℃" invalEndChars="‘“（〔［｛〈《「『【〘〖〝｟«([{￥＄£€＃№"/>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「水産資源学」はマキナス 4 Square を画像にしたもの（make_title_png.py）。</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第1回（10月2日）の前半。ガイダンスと「はじめに」を話し，後半は第1章 水産資源の現状に入る。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東京大学教養学部 基礎科学科第二は，学際的なジェネラリストを育てる学科。1987年，農学部水産学科の清水誠先生の水産資源学の授業を聴いたのがこの分野との出会い（教科書「緒言」）。</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教科書では「緒言」（5–7ページ）にあたる。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「資源」と聞くと鉱物資源を思い浮かべる人も多い（私もそうだった）。水産資源とは魚介類のこと。英語の3つの言葉はそれぞれ一部分を指すだけで，全体をまとめた学問体系は日本で独自に発展した。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多くの学問が欧米からの輸入であるのに対し，水産資源学は欧米の手法を取り込みつつ日本で独自に発展した。1996年の国連海洋法条約批准と同年のTAC法施行以降，資源評価は法律で定められた仕事になった。2018年の漁業法改正（2020年施行）でTAC法は廃止され，MSYベースの資源評価が導入された。詳しくは第1章1.3で。</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6</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シラバスの到達目標。この4つを試験で確認する。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7</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はじめに（緒言）と第1章からスタートし，教科書の順番どおりに第6章まで進む。第3章・第4章はオンデマンド。</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8</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配布した授業計画と同じ。第3章・第4章（10月13日〜27日）はオンデマンド。日程は変わることがあるので，Moodleの最新版を確認すること。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9</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出席は取らないが，小テストで出席を取ることがある。試験の日程は必ず手帳に書いておくこと。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10</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プレ試験で60点以上なら，本試験を欠席しても0点でも60点（可）が保証される。本試験の点が高ければそちらが評価になる。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4番は冗談ではない。無理に起きてノートを取るより，教科書に書き込んで後で見返すほうがよい。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Excelで計算できるように，広く使われている技術をていねいに解説した。二訂版では漁業法改正やMSYベースの資源評価導入に合わせて改訂し，統計も最新にした。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試験に持ち込めるのは指定教科書だけ。自分で書き込んだ教科書が，そのまま最強のカンニングペーパーになる。卒業後も仕事で使える。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どれも試験には持ち込めない。沿岸資源調査法は卒論で調査をする人に。ミヤベイワナの本は遊漁と資源保全の実例。イルカ・クジラ110番は北海道の漂着鯨類調査の記録。</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16</a:t>
            </a:fld>
            <a:endParaRPr lang="ja-JP"/>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matuisi.main.jp/"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https://a.r10.to/hRe8le" TargetMode="External"/><Relationship Id="rId5" Type="http://schemas.openxmlformats.org/officeDocument/2006/relationships/hyperlink" Target="https://a.r10.to/hRe8le" TargetMode="External"/><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jp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a.r10.to/hMbQOn" TargetMode="External"/><Relationship Id="rId4" Type="http://schemas.openxmlformats.org/officeDocument/2006/relationships/hyperlink" Target="https://a.r10.to/hMbQOn" TargetMode="External"/><Relationship Id="rId7" Type="http://schemas.openxmlformats.org/officeDocument/2006/relationships/hyperlink" Target="https://a.r10.to/hUJunw" TargetMode="External"/><Relationship Id="rId8" Type="http://schemas.openxmlformats.org/officeDocument/2006/relationships/hyperlink" Target="https://a.r10.to/hUJunw" TargetMode="External"/><Relationship Id="rId11" Type="http://schemas.openxmlformats.org/officeDocument/2006/relationships/hyperlink" Target="https://a.r10.to/h6IY3K" TargetMode="External"/><Relationship Id="rId12" Type="http://schemas.openxmlformats.org/officeDocument/2006/relationships/hyperlink" Target="https://a.r10.to/h6IY3K" TargetMode="External"/><Relationship Id="rId1" Type="http://schemas.openxmlformats.org/officeDocument/2006/relationships/image" Target="../media/image-15-1.jpg"/><Relationship Id="rId2" Type="http://schemas.openxmlformats.org/officeDocument/2006/relationships/image" Target="../media/image-15-2.png"/><Relationship Id="rId5" Type="http://schemas.openxmlformats.org/officeDocument/2006/relationships/image" Target="../media/image-15-3.jpg"/><Relationship Id="rId6" Type="http://schemas.openxmlformats.org/officeDocument/2006/relationships/image" Target="../media/image-15-4.png"/><Relationship Id="rId9" Type="http://schemas.openxmlformats.org/officeDocument/2006/relationships/image" Target="../media/image-15-5.jpg"/><Relationship Id="rId10" Type="http://schemas.openxmlformats.org/officeDocument/2006/relationships/image" Target="../media/image-15-6.pn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7223760" y="-2011680"/>
            <a:ext cx="6949440" cy="6949440"/>
          </a:xfrm>
          <a:prstGeom prst="ellipse">
            <a:avLst/>
          </a:prstGeom>
          <a:solidFill>
            <a:srgbClr val="1A8F8A">
              <a:alpha val="30000"/>
            </a:srgbClr>
          </a:solidFill>
          <a:ln w="12700">
            <a:solidFill>
              <a:srgbClr val="0E3B4F">
                <a:alpha val="0"/>
              </a:srgbClr>
            </a:solidFill>
            <a:prstDash val="solid"/>
          </a:ln>
        </p:spPr>
      </p:sp>
      <p:sp>
        <p:nvSpPr>
          <p:cNvPr id="3" name="Shape 1"/>
          <p:cNvSpPr/>
          <p:nvPr/>
        </p:nvSpPr>
        <p:spPr>
          <a:xfrm>
            <a:off x="-1463040" y="4480560"/>
            <a:ext cx="3840480" cy="3840480"/>
          </a:xfrm>
          <a:prstGeom prst="ellipse">
            <a:avLst/>
          </a:prstGeom>
          <a:solidFill>
            <a:srgbClr val="1A8F8A">
              <a:alpha val="20000"/>
            </a:srgbClr>
          </a:solidFill>
          <a:ln w="12700">
            <a:solidFill>
              <a:srgbClr val="0E3B4F">
                <a:alpha val="0"/>
              </a:srgbClr>
            </a:solidFill>
            <a:prstDash val="solid"/>
          </a:ln>
        </p:spPr>
      </p:sp>
      <p:sp>
        <p:nvSpPr>
          <p:cNvPr id="4" name="Shape 2"/>
          <p:cNvSpPr/>
          <p:nvPr/>
        </p:nvSpPr>
        <p:spPr>
          <a:xfrm>
            <a:off x="10332720" y="4846320"/>
            <a:ext cx="822960" cy="822960"/>
          </a:xfrm>
          <a:prstGeom prst="ellipse">
            <a:avLst/>
          </a:prstGeom>
          <a:solidFill>
            <a:srgbClr val="FF7A59">
              <a:alpha val="80000"/>
            </a:srgbClr>
          </a:solidFill>
          <a:ln w="12700">
            <a:solidFill>
              <a:srgbClr val="0E3B4F">
                <a:alpha val="0"/>
              </a:srgbClr>
            </a:solidFill>
            <a:prstDash val="solid"/>
          </a:ln>
        </p:spPr>
      </p:sp>
      <p:sp>
        <p:nvSpPr>
          <p:cNvPr id="5" name="Text 3"/>
          <p:cNvSpPr txBox="1"/>
          <p:nvPr/>
        </p:nvSpPr>
        <p:spPr>
          <a:xfrm>
            <a:off x="914400" y="1417320"/>
            <a:ext cx="3657600" cy="548640"/>
          </a:xfrm>
          <a:prstGeom prst="rect">
            <a:avLst/>
          </a:prstGeom>
          <a:noFill/>
          <a:ln/>
        </p:spPr>
        <p:txBody>
          <a:bodyPr wrap="square" lIns="0" tIns="0" rIns="0" bIns="0" rtlCol="0" anchor="ctr"/>
          <a:lstStyle/>
          <a:p>
            <a:pPr indent="0" marL="0">
              <a:buNone/>
            </a:pPr>
            <a:r>
              <a:rPr lang="ja-JP" altLang="en-US" sz="2800" b="1" dirty="0">
                <a:solidFill>
                  <a:srgbClr val="FF7A59"/>
                </a:solidFill>
                <a:latin typeface="Arial" pitchFamily="34" charset="0"/>
                <a:ea typeface="Arial" pitchFamily="34" charset="-122"/>
                <a:cs typeface="Arial" pitchFamily="34" charset="-120"/>
              </a:rPr>
              <a:t>2026</a:t>
            </a:r>
            <a:endParaRPr lang="ja-JP" sz="2800" dirty="0"/>
          </a:p>
        </p:txBody>
      </p:sp>
      <p:pic>
        <p:nvPicPr>
          <p:cNvPr id="6" name="Image 0" descr="水産資源学">    </p:cNvPr>
          <p:cNvPicPr>
            <a:picLocks noChangeAspect="1"/>
          </p:cNvPicPr>
          <p:nvPr/>
        </p:nvPicPr>
        <p:blipFill>
          <a:blip r:embed="rId1"/>
          <a:stretch>
            <a:fillRect/>
          </a:stretch>
        </p:blipFill>
        <p:spPr>
          <a:xfrm>
            <a:off x="886968" y="2308860"/>
            <a:ext cx="7210510" cy="1325880"/>
          </a:xfrm>
          <a:prstGeom prst="rect">
            <a:avLst/>
          </a:prstGeom>
        </p:spPr>
      </p:pic>
      <p:sp>
        <p:nvSpPr>
          <p:cNvPr id="7" name="Shape 4"/>
          <p:cNvSpPr/>
          <p:nvPr/>
        </p:nvSpPr>
        <p:spPr>
          <a:xfrm>
            <a:off x="914400" y="4160520"/>
            <a:ext cx="2194560" cy="0"/>
          </a:xfrm>
          <a:prstGeom prst="line">
            <a:avLst/>
          </a:prstGeom>
          <a:noFill/>
          <a:ln w="50800">
            <a:solidFill>
              <a:srgbClr val="FF7A59"/>
            </a:solidFill>
            <a:prstDash val="solid"/>
          </a:ln>
        </p:spPr>
      </p:sp>
      <p:sp>
        <p:nvSpPr>
          <p:cNvPr id="8" name="Text 5"/>
          <p:cNvSpPr txBox="1"/>
          <p:nvPr/>
        </p:nvSpPr>
        <p:spPr>
          <a:xfrm>
            <a:off x="914400" y="4937760"/>
            <a:ext cx="7315200" cy="411480"/>
          </a:xfrm>
          <a:prstGeom prst="rect">
            <a:avLst/>
          </a:prstGeom>
          <a:noFill/>
          <a:ln/>
        </p:spPr>
        <p:txBody>
          <a:bodyPr wrap="square" lIns="0" tIns="0" rIns="0" bIns="0" rtlCol="0" anchor="ctr"/>
          <a:lstStyle/>
          <a:p>
            <a:pPr indent="0" marL="0">
              <a:buNone/>
            </a:pPr>
            <a:r>
              <a:rPr lang="ja-JP" altLang="en-US" sz="1800" dirty="0">
                <a:solidFill>
                  <a:srgbClr val="FFFFFF"/>
                </a:solidFill>
                <a:latin typeface="BIZ UDPGothic" pitchFamily="34" charset="0"/>
                <a:ea typeface="BIZ UDPGothic" pitchFamily="34" charset="-122"/>
                <a:cs typeface="BIZ UDPGothic" pitchFamily="34" charset="-120"/>
              </a:rPr>
              <a:t>北海道大学 水産科学研究院　松石 隆</a:t>
            </a:r>
            <a:endParaRPr lang="ja-JP" sz="1800" dirty="0"/>
          </a:p>
        </p:txBody>
      </p:sp>
      <p:sp>
        <p:nvSpPr>
          <p:cNvPr id="9" name="Text 6"/>
          <p:cNvSpPr txBox="1"/>
          <p:nvPr/>
        </p:nvSpPr>
        <p:spPr>
          <a:xfrm>
            <a:off x="914400" y="5349240"/>
            <a:ext cx="7315200" cy="365760"/>
          </a:xfrm>
          <a:prstGeom prst="rect">
            <a:avLst/>
          </a:prstGeom>
          <a:noFill/>
          <a:ln/>
        </p:spPr>
        <p:txBody>
          <a:bodyPr wrap="square" lIns="0" tIns="0" rIns="0" bIns="0" rtlCol="0" anchor="ctr"/>
          <a:lstStyle/>
          <a:p>
            <a:pPr indent="0" marL="0">
              <a:buNone/>
            </a:pPr>
            <a:r>
              <a:rPr lang="ja-JP" altLang="en-US" sz="1400" dirty="0">
                <a:solidFill>
                  <a:srgbClr val="9FB6BF"/>
                </a:solidFill>
                <a:latin typeface="Arial" pitchFamily="34" charset="0"/>
                <a:ea typeface="Arial" pitchFamily="34" charset="-122"/>
                <a:cs typeface="Arial" pitchFamily="34" charset="-120"/>
              </a:rPr>
              <a:t>Matsuishi Takashi Fritz</a:t>
            </a:r>
            <a:endParaRPr lang="ja-JP"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7589520" y="548640"/>
            <a:ext cx="5852160" cy="5852160"/>
          </a:xfrm>
          <a:prstGeom prst="ellipse">
            <a:avLst/>
          </a:prstGeom>
          <a:solidFill>
            <a:srgbClr val="1A8F8A">
              <a:alpha val="35000"/>
            </a:srgbClr>
          </a:solidFill>
          <a:ln w="12700">
            <a:solidFill>
              <a:srgbClr val="0E3B4F">
                <a:alpha val="0"/>
              </a:srgbClr>
            </a:solidFill>
            <a:prstDash val="solid"/>
          </a:ln>
        </p:spPr>
      </p:sp>
      <p:sp>
        <p:nvSpPr>
          <p:cNvPr id="3" name="Shape 1"/>
          <p:cNvSpPr/>
          <p:nvPr/>
        </p:nvSpPr>
        <p:spPr>
          <a:xfrm>
            <a:off x="7040880" y="4480560"/>
            <a:ext cx="1280160" cy="1280160"/>
          </a:xfrm>
          <a:prstGeom prst="ellipse">
            <a:avLst/>
          </a:prstGeom>
          <a:solidFill>
            <a:srgbClr val="FF7A59">
              <a:alpha val="80000"/>
            </a:srgbClr>
          </a:solidFill>
          <a:ln w="12700">
            <a:solidFill>
              <a:srgbClr val="0E3B4F">
                <a:alpha val="0"/>
              </a:srgbClr>
            </a:solidFill>
            <a:prstDash val="solid"/>
          </a:ln>
        </p:spPr>
      </p:sp>
      <p:sp>
        <p:nvSpPr>
          <p:cNvPr id="4" name="Shape 2"/>
          <p:cNvSpPr/>
          <p:nvPr/>
        </p:nvSpPr>
        <p:spPr>
          <a:xfrm>
            <a:off x="11155680" y="457200"/>
            <a:ext cx="640080" cy="640080"/>
          </a:xfrm>
          <a:prstGeom prst="ellipse">
            <a:avLst/>
          </a:prstGeom>
          <a:solidFill>
            <a:srgbClr val="BFE3DF">
              <a:alpha val="60000"/>
            </a:srgbClr>
          </a:solidFill>
          <a:ln w="12700">
            <a:solidFill>
              <a:srgbClr val="0E3B4F">
                <a:alpha val="0"/>
              </a:srgbClr>
            </a:solidFill>
            <a:prstDash val="solid"/>
          </a:ln>
        </p:spPr>
      </p:sp>
      <p:pic>
        <p:nvPicPr>
          <p:cNvPr id="5" name="Image 0" descr="preencoded.png">    </p:cNvPr>
          <p:cNvPicPr>
            <a:picLocks noChangeAspect="1"/>
          </p:cNvPicPr>
          <p:nvPr/>
        </p:nvPicPr>
        <p:blipFill>
          <a:blip r:embed="rId1">
            <a:alphaModFix amt="90000"/>
          </a:blip>
          <a:stretch>
            <a:fillRect/>
          </a:stretch>
        </p:blipFill>
        <p:spPr>
          <a:xfrm>
            <a:off x="8778240" y="1920240"/>
            <a:ext cx="3291840" cy="3291840"/>
          </a:xfrm>
          <a:prstGeom prst="rect">
            <a:avLst/>
          </a:prstGeom>
        </p:spPr>
      </p:pic>
      <p:sp>
        <p:nvSpPr>
          <p:cNvPr id="6" name="Text 3"/>
          <p:cNvSpPr txBox="1"/>
          <p:nvPr/>
        </p:nvSpPr>
        <p:spPr>
          <a:xfrm>
            <a:off x="731520" y="1188720"/>
            <a:ext cx="6400800" cy="457200"/>
          </a:xfrm>
          <a:prstGeom prst="rect">
            <a:avLst/>
          </a:prstGeom>
          <a:noFill/>
          <a:ln/>
        </p:spPr>
        <p:txBody>
          <a:bodyPr wrap="square" lIns="0" tIns="0" rIns="0" bIns="0" rtlCol="0" anchor="ctr"/>
          <a:lstStyle/>
          <a:p>
            <a:pPr indent="0" marL="0">
              <a:buNone/>
            </a:pPr>
            <a:r>
              <a:rPr lang="ja-JP" altLang="en-US" sz="2000" b="1" dirty="0">
                <a:solidFill>
                  <a:srgbClr val="FF7A59"/>
                </a:solidFill>
                <a:latin typeface="BIZ UDPGothic" pitchFamily="34" charset="0"/>
                <a:ea typeface="BIZ UDPGothic" pitchFamily="34" charset="-122"/>
                <a:cs typeface="BIZ UDPGothic" pitchFamily="34" charset="-120"/>
              </a:rPr>
              <a:t>水産資源学　2026</a:t>
            </a:r>
            <a:endParaRPr lang="ja-JP" sz="2000" dirty="0"/>
          </a:p>
        </p:txBody>
      </p:sp>
      <p:sp>
        <p:nvSpPr>
          <p:cNvPr id="7" name="Text 4"/>
          <p:cNvSpPr txBox="1"/>
          <p:nvPr/>
        </p:nvSpPr>
        <p:spPr>
          <a:xfrm>
            <a:off x="731520" y="1783080"/>
            <a:ext cx="6949440" cy="2194560"/>
          </a:xfrm>
          <a:prstGeom prst="rect">
            <a:avLst/>
          </a:prstGeom>
          <a:noFill/>
          <a:ln/>
        </p:spPr>
        <p:txBody>
          <a:bodyPr wrap="square" lIns="0" tIns="0" rIns="0" bIns="0" rtlCol="0" anchor="t"/>
          <a:lstStyle/>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ガイダンス</a:t>
            </a:r>
            <a:endParaRPr lang="ja-JP" sz="5200" dirty="0"/>
          </a:p>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はじめに</a:t>
            </a:r>
            <a:endParaRPr lang="ja-JP" sz="5200" dirty="0"/>
          </a:p>
        </p:txBody>
      </p:sp>
      <p:sp>
        <p:nvSpPr>
          <p:cNvPr id="8" name="Text 5"/>
          <p:cNvSpPr txBox="1"/>
          <p:nvPr/>
        </p:nvSpPr>
        <p:spPr>
          <a:xfrm>
            <a:off x="731520" y="4069080"/>
            <a:ext cx="6949440" cy="457200"/>
          </a:xfrm>
          <a:prstGeom prst="rect">
            <a:avLst/>
          </a:prstGeom>
          <a:noFill/>
          <a:ln/>
        </p:spPr>
        <p:txBody>
          <a:bodyPr wrap="square" lIns="0" tIns="0" rIns="0" bIns="0" rtlCol="0" anchor="ctr"/>
          <a:lstStyle/>
          <a:p>
            <a:pPr indent="0" marL="0">
              <a:buNone/>
            </a:pPr>
            <a:r>
              <a:rPr lang="ja-JP" altLang="en-US" sz="2000" dirty="0">
                <a:solidFill>
                  <a:srgbClr val="BFE3DF"/>
                </a:solidFill>
                <a:latin typeface="BIZ UDPGothic" pitchFamily="34" charset="0"/>
                <a:ea typeface="BIZ UDPGothic" pitchFamily="34" charset="-122"/>
                <a:cs typeface="BIZ UDPGothic" pitchFamily="34" charset="-120"/>
              </a:rPr>
              <a:t>水産資源学って何？ この授業で何を学ぶ？</a:t>
            </a:r>
            <a:endParaRPr lang="ja-JP" sz="2000" dirty="0"/>
          </a:p>
        </p:txBody>
      </p:sp>
      <p:sp>
        <p:nvSpPr>
          <p:cNvPr id="9" name="Text 6"/>
          <p:cNvSpPr txBox="1"/>
          <p:nvPr/>
        </p:nvSpPr>
        <p:spPr>
          <a:xfrm>
            <a:off x="731520" y="5349240"/>
            <a:ext cx="6400800" cy="365760"/>
          </a:xfrm>
          <a:prstGeom prst="rect">
            <a:avLst/>
          </a:prstGeom>
          <a:noFill/>
          <a:ln/>
        </p:spPr>
        <p:txBody>
          <a:bodyPr wrap="square" lIns="0" tIns="0" rIns="0" bIns="0" rtlCol="0" anchor="ctr"/>
          <a:lstStyle/>
          <a:p>
            <a:pPr indent="0" marL="0">
              <a:buNone/>
            </a:pPr>
            <a:r>
              <a:rPr lang="ja-JP" altLang="en-US" sz="1600" dirty="0">
                <a:solidFill>
                  <a:srgbClr val="FFFFFF"/>
                </a:solidFill>
                <a:latin typeface="BIZ UDPGothic" pitchFamily="34" charset="0"/>
                <a:ea typeface="BIZ UDPGothic" pitchFamily="34" charset="-122"/>
                <a:cs typeface="BIZ UDPGothic" pitchFamily="34" charset="-120"/>
              </a:rPr>
              <a:t>北海道大学 水産科学研究院　松石 隆</a:t>
            </a:r>
            <a:endParaRPr lang="ja-JP" sz="1600" dirty="0"/>
          </a:p>
        </p:txBody>
      </p:sp>
      <p:sp>
        <p:nvSpPr>
          <p:cNvPr id="10" name="Text 7"/>
          <p:cNvSpPr txBox="1"/>
          <p:nvPr/>
        </p:nvSpPr>
        <p:spPr>
          <a:xfrm>
            <a:off x="731520" y="5715000"/>
            <a:ext cx="6400800" cy="365760"/>
          </a:xfrm>
          <a:prstGeom prst="rect">
            <a:avLst/>
          </a:prstGeom>
          <a:noFill/>
          <a:ln/>
        </p:spPr>
        <p:txBody>
          <a:bodyPr wrap="square" lIns="0" tIns="0" rIns="0" bIns="0" rtlCol="0" anchor="ctr"/>
          <a:lstStyle/>
          <a:p>
            <a:pPr indent="0" marL="0">
              <a:buNone/>
            </a:pPr>
            <a:r>
              <a:rPr lang="ja-JP" altLang="en-US" sz="1300" dirty="0">
                <a:solidFill>
                  <a:srgbClr val="9FB6BF"/>
                </a:solidFill>
                <a:latin typeface="Arial" pitchFamily="34" charset="0"/>
                <a:ea typeface="Arial" pitchFamily="34" charset="-122"/>
                <a:cs typeface="Arial" pitchFamily="34" charset="-120"/>
              </a:rPr>
              <a:t>Matsuishi Takashi Fritz</a:t>
            </a:r>
            <a:endParaRPr lang="ja-JP"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自己紹介　松石 隆</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3</a:t>
            </a:r>
            <a:endParaRPr lang="ja-JP" sz="1000" dirty="0"/>
          </a:p>
        </p:txBody>
      </p:sp>
      <p:sp>
        <p:nvSpPr>
          <p:cNvPr id="5" name="Shape 3"/>
          <p:cNvSpPr/>
          <p:nvPr/>
        </p:nvSpPr>
        <p:spPr>
          <a:xfrm>
            <a:off x="548640" y="1417320"/>
            <a:ext cx="3566160" cy="3977640"/>
          </a:xfrm>
          <a:prstGeom prst="roundRect">
            <a:avLst>
              <a:gd name="adj" fmla="val 3077"/>
            </a:avLst>
          </a:prstGeom>
          <a:solidFill>
            <a:srgbClr val="E3F4F1"/>
          </a:solidFill>
          <a:ln w="12700">
            <a:solidFill>
              <a:srgbClr val="E3F4F1"/>
            </a:solidFill>
            <a:prstDash val="solid"/>
          </a:ln>
        </p:spPr>
      </p:sp>
      <p:sp>
        <p:nvSpPr>
          <p:cNvPr id="6" name="Shape 4"/>
          <p:cNvSpPr/>
          <p:nvPr/>
        </p:nvSpPr>
        <p:spPr>
          <a:xfrm>
            <a:off x="822960" y="1645920"/>
            <a:ext cx="731520" cy="73152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98525" y="1821485"/>
            <a:ext cx="380390" cy="380390"/>
          </a:xfrm>
          <a:prstGeom prst="rect">
            <a:avLst/>
          </a:prstGeom>
        </p:spPr>
      </p:pic>
      <p:sp>
        <p:nvSpPr>
          <p:cNvPr id="8" name="Text 5"/>
          <p:cNvSpPr txBox="1"/>
          <p:nvPr/>
        </p:nvSpPr>
        <p:spPr>
          <a:xfrm>
            <a:off x="169164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所属</a:t>
            </a:r>
            <a:endParaRPr lang="ja-JP" sz="2200" dirty="0"/>
          </a:p>
        </p:txBody>
      </p:sp>
      <p:sp>
        <p:nvSpPr>
          <p:cNvPr id="9" name="Text 6"/>
          <p:cNvSpPr txBox="1"/>
          <p:nvPr/>
        </p:nvSpPr>
        <p:spPr>
          <a:xfrm>
            <a:off x="82296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教授</a:t>
            </a:r>
            <a:endParaRPr lang="ja-JP" sz="1600" dirty="0"/>
          </a:p>
        </p:txBody>
      </p:sp>
      <p:sp>
        <p:nvSpPr>
          <p:cNvPr id="10" name="Text 7"/>
          <p:cNvSpPr txBox="1"/>
          <p:nvPr/>
        </p:nvSpPr>
        <p:spPr>
          <a:xfrm>
            <a:off x="822960" y="293522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1964年生</a:t>
            </a:r>
            <a:endParaRPr lang="ja-JP" sz="1400" dirty="0"/>
          </a:p>
        </p:txBody>
      </p:sp>
      <p:sp>
        <p:nvSpPr>
          <p:cNvPr id="11" name="Text 8"/>
          <p:cNvSpPr txBox="1"/>
          <p:nvPr/>
        </p:nvSpPr>
        <p:spPr>
          <a:xfrm>
            <a:off x="822960" y="33375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海洋生物科学科</a:t>
            </a:r>
            <a:endParaRPr lang="ja-JP" sz="1600" dirty="0"/>
          </a:p>
        </p:txBody>
      </p:sp>
      <p:sp>
        <p:nvSpPr>
          <p:cNvPr id="12" name="Text 9"/>
          <p:cNvSpPr txBox="1"/>
          <p:nvPr/>
        </p:nvSpPr>
        <p:spPr>
          <a:xfrm>
            <a:off x="822960" y="406908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国際食資源学院</a:t>
            </a:r>
            <a:endParaRPr lang="ja-JP" sz="1600" dirty="0"/>
          </a:p>
        </p:txBody>
      </p:sp>
      <p:sp>
        <p:nvSpPr>
          <p:cNvPr id="13" name="Text 10"/>
          <p:cNvSpPr txBox="1"/>
          <p:nvPr/>
        </p:nvSpPr>
        <p:spPr>
          <a:xfrm>
            <a:off x="822960" y="439826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担当</a:t>
            </a:r>
            <a:endParaRPr lang="ja-JP" sz="1400" dirty="0"/>
          </a:p>
        </p:txBody>
      </p:sp>
      <p:sp>
        <p:nvSpPr>
          <p:cNvPr id="14" name="Shape 11"/>
          <p:cNvSpPr/>
          <p:nvPr/>
        </p:nvSpPr>
        <p:spPr>
          <a:xfrm>
            <a:off x="4297680" y="1417320"/>
            <a:ext cx="3566160" cy="3977640"/>
          </a:xfrm>
          <a:prstGeom prst="roundRect">
            <a:avLst>
              <a:gd name="adj" fmla="val 3077"/>
            </a:avLst>
          </a:prstGeom>
          <a:solidFill>
            <a:srgbClr val="E3F4F1"/>
          </a:solidFill>
          <a:ln w="12700">
            <a:solidFill>
              <a:srgbClr val="E3F4F1"/>
            </a:solidFill>
            <a:prstDash val="solid"/>
          </a:ln>
        </p:spPr>
      </p:sp>
      <p:sp>
        <p:nvSpPr>
          <p:cNvPr id="15" name="Shape 12"/>
          <p:cNvSpPr/>
          <p:nvPr/>
        </p:nvSpPr>
        <p:spPr>
          <a:xfrm>
            <a:off x="4572000" y="1645920"/>
            <a:ext cx="731520" cy="731520"/>
          </a:xfrm>
          <a:prstGeom prst="ellipse">
            <a:avLst/>
          </a:prstGeom>
          <a:solidFill>
            <a:srgbClr val="1A8F8A"/>
          </a:solidFill>
          <a:ln w="12700">
            <a:solidFill>
              <a:srgbClr val="1A8F8A"/>
            </a:solidFill>
            <a:prstDash val="solid"/>
          </a:ln>
        </p:spPr>
      </p:sp>
      <p:pic>
        <p:nvPicPr>
          <p:cNvPr id="16" name="Image 1" descr="preencoded.png">    </p:cNvPr>
          <p:cNvPicPr>
            <a:picLocks noChangeAspect="1"/>
          </p:cNvPicPr>
          <p:nvPr/>
        </p:nvPicPr>
        <p:blipFill>
          <a:blip r:embed="rId2"/>
          <a:stretch>
            <a:fillRect/>
          </a:stretch>
        </p:blipFill>
        <p:spPr>
          <a:xfrm>
            <a:off x="4747565" y="1821485"/>
            <a:ext cx="380390" cy="380390"/>
          </a:xfrm>
          <a:prstGeom prst="rect">
            <a:avLst/>
          </a:prstGeom>
        </p:spPr>
      </p:pic>
      <p:sp>
        <p:nvSpPr>
          <p:cNvPr id="17" name="Text 13"/>
          <p:cNvSpPr txBox="1"/>
          <p:nvPr/>
        </p:nvSpPr>
        <p:spPr>
          <a:xfrm>
            <a:off x="544068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経歴</a:t>
            </a:r>
            <a:endParaRPr lang="ja-JP" sz="2200" dirty="0"/>
          </a:p>
        </p:txBody>
      </p:sp>
      <p:sp>
        <p:nvSpPr>
          <p:cNvPr id="18" name="Text 14"/>
          <p:cNvSpPr txBox="1"/>
          <p:nvPr/>
        </p:nvSpPr>
        <p:spPr>
          <a:xfrm>
            <a:off x="457200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東京出身</a:t>
            </a:r>
            <a:endParaRPr lang="ja-JP" sz="1600" dirty="0"/>
          </a:p>
        </p:txBody>
      </p:sp>
      <p:sp>
        <p:nvSpPr>
          <p:cNvPr id="19" name="Text 15"/>
          <p:cNvSpPr txBox="1"/>
          <p:nvPr/>
        </p:nvSpPr>
        <p:spPr>
          <a:xfrm>
            <a:off x="4572000" y="2935224"/>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私立武蔵中学・高校</a:t>
            </a:r>
            <a:endParaRPr lang="ja-JP" sz="1400" dirty="0"/>
          </a:p>
        </p:txBody>
      </p:sp>
      <p:sp>
        <p:nvSpPr>
          <p:cNvPr id="20" name="Text 16"/>
          <p:cNvSpPr txBox="1"/>
          <p:nvPr/>
        </p:nvSpPr>
        <p:spPr>
          <a:xfrm>
            <a:off x="4572000" y="3264408"/>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東京大学教養学部</a:t>
            </a:r>
            <a:endParaRPr lang="ja-JP" sz="1600" dirty="0"/>
          </a:p>
        </p:txBody>
      </p:sp>
      <p:sp>
        <p:nvSpPr>
          <p:cNvPr id="21" name="Text 17"/>
          <p:cNvSpPr txBox="1"/>
          <p:nvPr/>
        </p:nvSpPr>
        <p:spPr>
          <a:xfrm>
            <a:off x="4572000" y="3593592"/>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基礎科学科第二（システム基礎科学）</a:t>
            </a:r>
            <a:endParaRPr lang="ja-JP" sz="1400" dirty="0"/>
          </a:p>
        </p:txBody>
      </p:sp>
      <p:sp>
        <p:nvSpPr>
          <p:cNvPr id="22" name="Text 18"/>
          <p:cNvSpPr txBox="1"/>
          <p:nvPr/>
        </p:nvSpPr>
        <p:spPr>
          <a:xfrm>
            <a:off x="4572000" y="3922776"/>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東京大学海洋研究所</a:t>
            </a:r>
            <a:endParaRPr lang="ja-JP" sz="1600" dirty="0"/>
          </a:p>
        </p:txBody>
      </p:sp>
      <p:sp>
        <p:nvSpPr>
          <p:cNvPr id="23" name="Text 19"/>
          <p:cNvSpPr txBox="1"/>
          <p:nvPr/>
        </p:nvSpPr>
        <p:spPr>
          <a:xfrm>
            <a:off x="4572000" y="4251960"/>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大学院</a:t>
            </a:r>
            <a:endParaRPr lang="ja-JP" sz="1400" dirty="0"/>
          </a:p>
        </p:txBody>
      </p:sp>
      <p:sp>
        <p:nvSpPr>
          <p:cNvPr id="24" name="Text 20"/>
          <p:cNvSpPr txBox="1"/>
          <p:nvPr/>
        </p:nvSpPr>
        <p:spPr>
          <a:xfrm>
            <a:off x="4572000" y="4581144"/>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1993年</a:t>
            </a:r>
            <a:endParaRPr lang="ja-JP" sz="1600" dirty="0"/>
          </a:p>
        </p:txBody>
      </p:sp>
      <p:sp>
        <p:nvSpPr>
          <p:cNvPr id="25" name="Text 21"/>
          <p:cNvSpPr txBox="1"/>
          <p:nvPr/>
        </p:nvSpPr>
        <p:spPr>
          <a:xfrm>
            <a:off x="4572000" y="4910328"/>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北大に着任</a:t>
            </a:r>
            <a:endParaRPr lang="ja-JP" sz="1400" dirty="0"/>
          </a:p>
        </p:txBody>
      </p:sp>
      <p:sp>
        <p:nvSpPr>
          <p:cNvPr id="26" name="Shape 22"/>
          <p:cNvSpPr/>
          <p:nvPr/>
        </p:nvSpPr>
        <p:spPr>
          <a:xfrm>
            <a:off x="8046720" y="1417320"/>
            <a:ext cx="3566160" cy="3977640"/>
          </a:xfrm>
          <a:prstGeom prst="roundRect">
            <a:avLst>
              <a:gd name="adj" fmla="val 3077"/>
            </a:avLst>
          </a:prstGeom>
          <a:solidFill>
            <a:srgbClr val="E3F4F1"/>
          </a:solidFill>
          <a:ln w="12700">
            <a:solidFill>
              <a:srgbClr val="E3F4F1"/>
            </a:solidFill>
            <a:prstDash val="solid"/>
          </a:ln>
        </p:spPr>
      </p:sp>
      <p:sp>
        <p:nvSpPr>
          <p:cNvPr id="27" name="Shape 23"/>
          <p:cNvSpPr/>
          <p:nvPr/>
        </p:nvSpPr>
        <p:spPr>
          <a:xfrm>
            <a:off x="8321040" y="1645920"/>
            <a:ext cx="731520" cy="731520"/>
          </a:xfrm>
          <a:prstGeom prst="ellipse">
            <a:avLst/>
          </a:prstGeom>
          <a:solidFill>
            <a:srgbClr val="FF7A59"/>
          </a:solidFill>
          <a:ln w="12700">
            <a:solidFill>
              <a:srgbClr val="FF7A59"/>
            </a:solidFill>
            <a:prstDash val="solid"/>
          </a:ln>
        </p:spPr>
      </p:sp>
      <p:pic>
        <p:nvPicPr>
          <p:cNvPr id="28" name="Image 2" descr="preencoded.png">    </p:cNvPr>
          <p:cNvPicPr>
            <a:picLocks noChangeAspect="1"/>
          </p:cNvPicPr>
          <p:nvPr/>
        </p:nvPicPr>
        <p:blipFill>
          <a:blip r:embed="rId3"/>
          <a:stretch>
            <a:fillRect/>
          </a:stretch>
        </p:blipFill>
        <p:spPr>
          <a:xfrm>
            <a:off x="8496605" y="1821485"/>
            <a:ext cx="380390" cy="380390"/>
          </a:xfrm>
          <a:prstGeom prst="rect">
            <a:avLst/>
          </a:prstGeom>
        </p:spPr>
      </p:pic>
      <p:sp>
        <p:nvSpPr>
          <p:cNvPr id="29" name="Text 24"/>
          <p:cNvSpPr txBox="1"/>
          <p:nvPr/>
        </p:nvSpPr>
        <p:spPr>
          <a:xfrm>
            <a:off x="9189720" y="1645920"/>
            <a:ext cx="2194560" cy="731520"/>
          </a:xfrm>
          <a:prstGeom prst="rect">
            <a:avLst/>
          </a:prstGeom>
          <a:noFill/>
          <a:ln/>
        </p:spPr>
        <p:txBody>
          <a:bodyPr wrap="square" lIns="0" tIns="0" rIns="0" bIns="0" rtlCol="0" anchor="ctr"/>
          <a:lstStyle/>
          <a:p>
            <a:pPr indent="0" marL="0">
              <a:buNone/>
            </a:pPr>
            <a:r>
              <a:rPr lang="ja-JP" altLang="en-US" sz="2200" b="1" dirty="0">
                <a:solidFill>
                  <a:srgbClr val="D9573A"/>
                </a:solidFill>
                <a:latin typeface="BIZ UDPGothic" pitchFamily="34" charset="0"/>
                <a:ea typeface="BIZ UDPGothic" pitchFamily="34" charset="-122"/>
                <a:cs typeface="BIZ UDPGothic" pitchFamily="34" charset="-120"/>
              </a:rPr>
              <a:t>専門</a:t>
            </a:r>
            <a:endParaRPr lang="ja-JP" sz="2200" dirty="0"/>
          </a:p>
        </p:txBody>
      </p:sp>
      <p:sp>
        <p:nvSpPr>
          <p:cNvPr id="30" name="Text 25"/>
          <p:cNvSpPr txBox="1"/>
          <p:nvPr/>
        </p:nvSpPr>
        <p:spPr>
          <a:xfrm>
            <a:off x="832104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水産資源学</a:t>
            </a:r>
            <a:endParaRPr lang="ja-JP" sz="1600" dirty="0"/>
          </a:p>
        </p:txBody>
      </p:sp>
      <p:sp>
        <p:nvSpPr>
          <p:cNvPr id="31" name="Text 26"/>
          <p:cNvSpPr txBox="1"/>
          <p:nvPr/>
        </p:nvSpPr>
        <p:spPr>
          <a:xfrm>
            <a:off x="8321040" y="293522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東南アジアの漁業管理</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データ不足下の資源評価</a:t>
            </a:r>
            <a:endParaRPr lang="ja-JP" sz="1400" dirty="0"/>
          </a:p>
        </p:txBody>
      </p:sp>
      <p:sp>
        <p:nvSpPr>
          <p:cNvPr id="32" name="Text 27"/>
          <p:cNvSpPr txBox="1"/>
          <p:nvPr/>
        </p:nvSpPr>
        <p:spPr>
          <a:xfrm>
            <a:off x="8321040" y="37947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鯨類学</a:t>
            </a:r>
            <a:endParaRPr lang="ja-JP" sz="1600" dirty="0"/>
          </a:p>
        </p:txBody>
      </p:sp>
      <p:sp>
        <p:nvSpPr>
          <p:cNvPr id="33" name="Text 28"/>
          <p:cNvSpPr txBox="1"/>
          <p:nvPr/>
        </p:nvSpPr>
        <p:spPr>
          <a:xfrm>
            <a:off x="8321040" y="412394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ネズミイルカ</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漂着鯨類</a:t>
            </a:r>
            <a:endParaRPr lang="ja-JP" sz="1400" dirty="0"/>
          </a:p>
        </p:txBody>
      </p:sp>
      <p:sp>
        <p:nvSpPr>
          <p:cNvPr id="34" name="Shape 29"/>
          <p:cNvSpPr/>
          <p:nvPr/>
        </p:nvSpPr>
        <p:spPr>
          <a:xfrm>
            <a:off x="548640" y="5596128"/>
            <a:ext cx="548640" cy="548640"/>
          </a:xfrm>
          <a:prstGeom prst="ellipse">
            <a:avLst/>
          </a:prstGeom>
          <a:solidFill>
            <a:srgbClr val="0E3B4F"/>
          </a:solidFill>
          <a:ln w="12700">
            <a:solidFill>
              <a:srgbClr val="0E3B4F"/>
            </a:solidFill>
            <a:prstDash val="solid"/>
          </a:ln>
        </p:spPr>
      </p:sp>
      <p:pic>
        <p:nvPicPr>
          <p:cNvPr id="35" name="Image 3" descr="preencoded.png">    </p:cNvPr>
          <p:cNvPicPr>
            <a:picLocks noChangeAspect="1"/>
          </p:cNvPicPr>
          <p:nvPr/>
        </p:nvPicPr>
        <p:blipFill>
          <a:blip r:embed="rId4"/>
          <a:stretch>
            <a:fillRect/>
          </a:stretch>
        </p:blipFill>
        <p:spPr>
          <a:xfrm>
            <a:off x="680314" y="5727802"/>
            <a:ext cx="285293" cy="285293"/>
          </a:xfrm>
          <a:prstGeom prst="rect">
            <a:avLst/>
          </a:prstGeom>
        </p:spPr>
      </p:pic>
      <p:sp>
        <p:nvSpPr>
          <p:cNvPr id="36" name="Text 30"/>
          <p:cNvSpPr txBox="1"/>
          <p:nvPr/>
        </p:nvSpPr>
        <p:spPr>
          <a:xfrm>
            <a:off x="1280160" y="5550408"/>
            <a:ext cx="10332720" cy="64008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続きはホームページで　</a:t>
            </a:r>
            <a:pPr indent="0" marL="0">
              <a:buNone/>
            </a:pPr>
            <a:r>
              <a:rPr lang="ja-JP" altLang="en-US" sz="16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https://matuisi.main.jp/</a:t>
            </a:r>
            <a:endParaRPr lang="ja-JP"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8412480" y="-1097280"/>
            <a:ext cx="5120640" cy="5120640"/>
          </a:xfrm>
          <a:prstGeom prst="ellipse">
            <a:avLst/>
          </a:prstGeom>
          <a:solidFill>
            <a:srgbClr val="1A8F8A">
              <a:alpha val="30000"/>
            </a:srgbClr>
          </a:solidFill>
          <a:ln w="12700">
            <a:solidFill>
              <a:srgbClr val="0E3B4F">
                <a:alpha val="0"/>
              </a:srgbClr>
            </a:solidFill>
            <a:prstDash val="solid"/>
          </a:ln>
        </p:spPr>
      </p:sp>
      <p:sp>
        <p:nvSpPr>
          <p:cNvPr id="3" name="Shape 1"/>
          <p:cNvSpPr/>
          <p:nvPr/>
        </p:nvSpPr>
        <p:spPr>
          <a:xfrm>
            <a:off x="9875520" y="3931920"/>
            <a:ext cx="2926080" cy="2926080"/>
          </a:xfrm>
          <a:prstGeom prst="ellipse">
            <a:avLst/>
          </a:prstGeom>
          <a:solidFill>
            <a:srgbClr val="1A8F8A">
              <a:alpha val="20000"/>
            </a:srgbClr>
          </a:solidFill>
          <a:ln w="12700">
            <a:solidFill>
              <a:srgbClr val="0E3B4F">
                <a:alpha val="0"/>
              </a:srgbClr>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9464040" y="868680"/>
            <a:ext cx="2194560" cy="2194560"/>
          </a:xfrm>
          <a:prstGeom prst="rect">
            <a:avLst/>
          </a:prstGeom>
        </p:spPr>
      </p:pic>
      <p:sp>
        <p:nvSpPr>
          <p:cNvPr id="5" name="Text 2"/>
          <p:cNvSpPr txBox="1"/>
          <p:nvPr/>
        </p:nvSpPr>
        <p:spPr>
          <a:xfrm>
            <a:off x="822960" y="1554480"/>
            <a:ext cx="5486400" cy="1463040"/>
          </a:xfrm>
          <a:prstGeom prst="rect">
            <a:avLst/>
          </a:prstGeom>
          <a:noFill/>
          <a:ln/>
        </p:spPr>
        <p:txBody>
          <a:bodyPr wrap="square" lIns="0" tIns="0" rIns="0" bIns="0" rtlCol="0" anchor="ctr"/>
          <a:lstStyle/>
          <a:p>
            <a:pPr indent="0" marL="0">
              <a:buNone/>
            </a:pPr>
            <a:r>
              <a:rPr lang="ja-JP" altLang="en-US" sz="9600" b="1" dirty="0">
                <a:solidFill>
                  <a:srgbClr val="FF7A59"/>
                </a:solidFill>
                <a:latin typeface="Arial" pitchFamily="34" charset="0"/>
                <a:ea typeface="Arial" pitchFamily="34" charset="-122"/>
                <a:cs typeface="Arial" pitchFamily="34" charset="-120"/>
              </a:rPr>
              <a:t>0</a:t>
            </a:r>
            <a:endParaRPr lang="ja-JP" sz="9600" dirty="0"/>
          </a:p>
        </p:txBody>
      </p:sp>
      <p:sp>
        <p:nvSpPr>
          <p:cNvPr id="6" name="Text 3"/>
          <p:cNvSpPr txBox="1"/>
          <p:nvPr/>
        </p:nvSpPr>
        <p:spPr>
          <a:xfrm>
            <a:off x="822960" y="3063240"/>
            <a:ext cx="8686800" cy="914400"/>
          </a:xfrm>
          <a:prstGeom prst="rect">
            <a:avLst/>
          </a:prstGeom>
          <a:noFill/>
          <a:ln/>
        </p:spPr>
        <p:txBody>
          <a:bodyPr wrap="square" lIns="0" tIns="0" rIns="0" bIns="0" rtlCol="0" anchor="ctr"/>
          <a:lstStyle/>
          <a:p>
            <a:pPr indent="0" marL="0">
              <a:buNone/>
            </a:pPr>
            <a:r>
              <a:rPr lang="ja-JP" altLang="en-US" sz="4000" b="1" dirty="0">
                <a:solidFill>
                  <a:srgbClr val="FFFFFF"/>
                </a:solidFill>
                <a:latin typeface="BIZ UDPGothic" pitchFamily="34" charset="0"/>
                <a:ea typeface="BIZ UDPGothic" pitchFamily="34" charset="-122"/>
                <a:cs typeface="BIZ UDPGothic" pitchFamily="34" charset="-120"/>
              </a:rPr>
              <a:t>はじめに</a:t>
            </a:r>
            <a:endParaRPr lang="ja-JP" sz="40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indent="0" marL="0">
              <a:buNone/>
            </a:pPr>
            <a:r>
              <a:rPr lang="ja-JP" altLang="en-US" sz="2000" i="1" dirty="0">
                <a:solidFill>
                  <a:srgbClr val="BFE3DF"/>
                </a:solidFill>
                <a:latin typeface="BIZ UDPGothic" pitchFamily="34" charset="0"/>
                <a:ea typeface="BIZ UDPGothic" pitchFamily="34" charset="-122"/>
                <a:cs typeface="BIZ UDPGothic" pitchFamily="34" charset="-120"/>
              </a:rPr>
              <a:t>水産資源学って何？</a:t>
            </a:r>
            <a:endParaRPr lang="ja-JP" sz="2000" dirty="0"/>
          </a:p>
        </p:txBody>
      </p:sp>
      <p:sp>
        <p:nvSpPr>
          <p:cNvPr id="8" name="Text 5"/>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9FB6BF"/>
                </a:solidFill>
                <a:latin typeface="Arial" pitchFamily="34" charset="0"/>
                <a:ea typeface="Arial" pitchFamily="34" charset="-122"/>
                <a:cs typeface="Arial" pitchFamily="34" charset="-120"/>
              </a:rPr>
              <a:t>4</a:t>
            </a:r>
            <a:endParaRPr lang="ja-JP"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水産資源学とは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5</a:t>
            </a:r>
            <a:endParaRPr lang="ja-JP" sz="1000" dirty="0"/>
          </a:p>
        </p:txBody>
      </p:sp>
      <p:sp>
        <p:nvSpPr>
          <p:cNvPr id="6" name="Shape 4"/>
          <p:cNvSpPr/>
          <p:nvPr/>
        </p:nvSpPr>
        <p:spPr>
          <a:xfrm>
            <a:off x="548640" y="1417320"/>
            <a:ext cx="6583680" cy="2331720"/>
          </a:xfrm>
          <a:prstGeom prst="roundRect">
            <a:avLst>
              <a:gd name="adj" fmla="val 4706"/>
            </a:avLst>
          </a:prstGeom>
          <a:solidFill>
            <a:srgbClr val="0E3B4F"/>
          </a:solidFill>
          <a:ln w="12700">
            <a:solidFill>
              <a:srgbClr val="0E3B4F"/>
            </a:solidFill>
            <a:prstDash val="solid"/>
          </a:ln>
        </p:spPr>
      </p:sp>
      <p:sp>
        <p:nvSpPr>
          <p:cNvPr id="7" name="Shape 5"/>
          <p:cNvSpPr/>
          <p:nvPr/>
        </p:nvSpPr>
        <p:spPr>
          <a:xfrm>
            <a:off x="868680" y="1691640"/>
            <a:ext cx="731520" cy="731520"/>
          </a:xfrm>
          <a:prstGeom prst="ellipse">
            <a:avLst/>
          </a:prstGeom>
          <a:solidFill>
            <a:srgbClr val="FF7A59"/>
          </a:solidFill>
          <a:ln w="12700">
            <a:solidFill>
              <a:srgbClr val="FF7A59"/>
            </a:solidFill>
            <a:prstDash val="solid"/>
          </a:ln>
        </p:spPr>
      </p:sp>
      <p:pic>
        <p:nvPicPr>
          <p:cNvPr id="8" name="Image 0"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9" name="Text 6"/>
          <p:cNvSpPr txBox="1"/>
          <p:nvPr/>
        </p:nvSpPr>
        <p:spPr>
          <a:xfrm>
            <a:off x="1783080" y="1691640"/>
            <a:ext cx="5029200" cy="73152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ひとことで言うと</a:t>
            </a:r>
            <a:endParaRPr lang="ja-JP" sz="1800" dirty="0"/>
          </a:p>
        </p:txBody>
      </p:sp>
      <p:sp>
        <p:nvSpPr>
          <p:cNvPr id="10" name="Text 7"/>
          <p:cNvSpPr txBox="1"/>
          <p:nvPr/>
        </p:nvSpPr>
        <p:spPr>
          <a:xfrm>
            <a:off x="868680" y="2560320"/>
            <a:ext cx="6126480" cy="1051560"/>
          </a:xfrm>
          <a:prstGeom prst="rect">
            <a:avLst/>
          </a:prstGeom>
          <a:noFill/>
          <a:ln/>
        </p:spPr>
        <p:txBody>
          <a:bodyPr wrap="square" lIns="0" tIns="0" rIns="0" bIns="0" rtlCol="0" anchor="t"/>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さかなをいつまでも獲り続けられるように，</a:t>
            </a:r>
            <a:endParaRPr lang="ja-JP" sz="2400" dirty="0"/>
          </a:p>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さかなの量や漁獲量を調べる学問</a:t>
            </a:r>
            <a:endParaRPr lang="ja-JP" sz="2400" dirty="0"/>
          </a:p>
        </p:txBody>
      </p:sp>
      <p:sp>
        <p:nvSpPr>
          <p:cNvPr id="11" name="Shape 8"/>
          <p:cNvSpPr/>
          <p:nvPr/>
        </p:nvSpPr>
        <p:spPr>
          <a:xfrm>
            <a:off x="548640" y="3977640"/>
            <a:ext cx="6583680" cy="2148840"/>
          </a:xfrm>
          <a:prstGeom prst="roundRect">
            <a:avLst>
              <a:gd name="adj" fmla="val 5106"/>
            </a:avLst>
          </a:prstGeom>
          <a:solidFill>
            <a:srgbClr val="E3F4F1"/>
          </a:solidFill>
          <a:ln w="12700">
            <a:solidFill>
              <a:srgbClr val="E3F4F1"/>
            </a:solidFill>
            <a:prstDash val="solid"/>
          </a:ln>
        </p:spPr>
      </p:sp>
      <p:sp>
        <p:nvSpPr>
          <p:cNvPr id="12" name="Text 9"/>
          <p:cNvSpPr txBox="1"/>
          <p:nvPr/>
        </p:nvSpPr>
        <p:spPr>
          <a:xfrm>
            <a:off x="868680" y="4160520"/>
            <a:ext cx="5943600" cy="411480"/>
          </a:xfrm>
          <a:prstGeom prst="rect">
            <a:avLst/>
          </a:prstGeom>
          <a:noFill/>
          <a:ln/>
        </p:spPr>
        <p:txBody>
          <a:bodyPr wrap="square" lIns="0" tIns="0" rIns="0" bIns="0" rtlCol="0" anchor="ctr"/>
          <a:lstStyle/>
          <a:p>
            <a:pPr indent="0" marL="0">
              <a:buNone/>
            </a:pPr>
            <a:r>
              <a:rPr lang="ja-JP" altLang="en-US" sz="1800" b="1" dirty="0">
                <a:solidFill>
                  <a:srgbClr val="1A8F8A"/>
                </a:solidFill>
                <a:latin typeface="BIZ UDPGothic" pitchFamily="34" charset="0"/>
                <a:ea typeface="BIZ UDPGothic" pitchFamily="34" charset="-122"/>
                <a:cs typeface="BIZ UDPGothic" pitchFamily="34" charset="-120"/>
              </a:rPr>
              <a:t>かたく言うと</a:t>
            </a:r>
            <a:endParaRPr lang="ja-JP" sz="1800" dirty="0"/>
          </a:p>
        </p:txBody>
      </p:sp>
      <p:sp>
        <p:nvSpPr>
          <p:cNvPr id="13" name="Text 10"/>
          <p:cNvSpPr txBox="1"/>
          <p:nvPr/>
        </p:nvSpPr>
        <p:spPr>
          <a:xfrm>
            <a:off x="868680" y="4663440"/>
            <a:ext cx="6126480" cy="1188720"/>
          </a:xfrm>
          <a:prstGeom prst="rect">
            <a:avLst/>
          </a:prstGeom>
          <a:noFill/>
          <a:ln/>
        </p:spPr>
        <p:txBody>
          <a:bodyPr wrap="square" lIns="0" tIns="0" rIns="0" bIns="0" rtlCol="0" anchor="t"/>
          <a:lstStyle/>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資源の持続的有効利用をするための技術，</a:t>
            </a:r>
            <a:endParaRPr lang="ja-JP" sz="1900" dirty="0"/>
          </a:p>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およびその背景にある科学的知見に関する学問である。</a:t>
            </a:r>
            <a:endParaRPr lang="ja-JP" sz="1900" dirty="0"/>
          </a:p>
        </p:txBody>
      </p:sp>
      <p:sp>
        <p:nvSpPr>
          <p:cNvPr id="14" name="Shape 11"/>
          <p:cNvSpPr/>
          <p:nvPr/>
        </p:nvSpPr>
        <p:spPr>
          <a:xfrm>
            <a:off x="7498080" y="1417320"/>
            <a:ext cx="4114800" cy="4709160"/>
          </a:xfrm>
          <a:prstGeom prst="roundRect">
            <a:avLst>
              <a:gd name="adj" fmla="val 2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7726680" y="1600200"/>
            <a:ext cx="3749040" cy="731520"/>
          </a:xfrm>
          <a:prstGeom prst="rect">
            <a:avLst/>
          </a:prstGeom>
          <a:noFill/>
          <a:ln/>
        </p:spPr>
        <p:txBody>
          <a:bodyPr wrap="square" lIns="0" tIns="0" rIns="0" bIns="0" rtlCol="0" anchor="t"/>
          <a:lstStyle/>
          <a:p>
            <a:pPr indent="0" marL="0">
              <a:buNone/>
            </a:pPr>
            <a:r>
              <a:rPr lang="ja-JP" altLang="en-US" sz="1800" b="1" dirty="0">
                <a:solidFill>
                  <a:srgbClr val="D9573A"/>
                </a:solidFill>
                <a:latin typeface="BIZ UDPGothic" pitchFamily="34" charset="0"/>
                <a:ea typeface="BIZ UDPGothic" pitchFamily="34" charset="-122"/>
                <a:cs typeface="BIZ UDPGothic" pitchFamily="34" charset="-120"/>
              </a:rPr>
              <a:t>「水産資源学」という英語はない</a:t>
            </a:r>
            <a:endParaRPr lang="ja-JP" sz="1800" dirty="0"/>
          </a:p>
        </p:txBody>
      </p:sp>
      <p:sp>
        <p:nvSpPr>
          <p:cNvPr id="16" name="Shape 13"/>
          <p:cNvSpPr/>
          <p:nvPr/>
        </p:nvSpPr>
        <p:spPr>
          <a:xfrm>
            <a:off x="7726680" y="2377440"/>
            <a:ext cx="3657600" cy="822960"/>
          </a:xfrm>
          <a:prstGeom prst="roundRect">
            <a:avLst>
              <a:gd name="adj" fmla="val 13333"/>
            </a:avLst>
          </a:prstGeom>
          <a:solidFill>
            <a:srgbClr val="E3F4F1"/>
          </a:solidFill>
          <a:ln w="12700">
            <a:solidFill>
              <a:srgbClr val="E3F4F1"/>
            </a:solidFill>
            <a:prstDash val="solid"/>
          </a:ln>
        </p:spPr>
      </p:sp>
      <p:sp>
        <p:nvSpPr>
          <p:cNvPr id="17" name="Text 14"/>
          <p:cNvSpPr txBox="1"/>
          <p:nvPr/>
        </p:nvSpPr>
        <p:spPr>
          <a:xfrm>
            <a:off x="7863840" y="237744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Quantitative Fish</a:t>
            </a:r>
            <a:endParaRPr lang="ja-JP" sz="1300" dirty="0"/>
          </a:p>
          <a:p>
            <a:pPr indent="0" marL="0">
              <a:buNone/>
            </a:pPr>
            <a:r>
              <a:rPr lang="ja-JP" altLang="en-US" sz="1300" b="1" dirty="0">
                <a:solidFill>
                  <a:srgbClr val="0E3B4F"/>
                </a:solidFill>
                <a:latin typeface="Arial" pitchFamily="34" charset="0"/>
                <a:ea typeface="Arial" pitchFamily="34" charset="-122"/>
                <a:cs typeface="Arial" pitchFamily="34" charset="-120"/>
              </a:rPr>
              <a:t>Population Dynamics</a:t>
            </a:r>
            <a:endParaRPr lang="ja-JP" sz="1300" dirty="0"/>
          </a:p>
        </p:txBody>
      </p:sp>
      <p:sp>
        <p:nvSpPr>
          <p:cNvPr id="18" name="Text 15"/>
          <p:cNvSpPr txBox="1"/>
          <p:nvPr/>
        </p:nvSpPr>
        <p:spPr>
          <a:xfrm>
            <a:off x="10195560" y="237744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資源解析</a:t>
            </a:r>
            <a:endParaRPr lang="ja-JP" sz="1500" dirty="0"/>
          </a:p>
        </p:txBody>
      </p:sp>
      <p:sp>
        <p:nvSpPr>
          <p:cNvPr id="19" name="Shape 16"/>
          <p:cNvSpPr/>
          <p:nvPr/>
        </p:nvSpPr>
        <p:spPr>
          <a:xfrm>
            <a:off x="7726680" y="3337560"/>
            <a:ext cx="3657600" cy="822960"/>
          </a:xfrm>
          <a:prstGeom prst="roundRect">
            <a:avLst>
              <a:gd name="adj" fmla="val 13333"/>
            </a:avLst>
          </a:prstGeom>
          <a:solidFill>
            <a:srgbClr val="E3F4F1"/>
          </a:solidFill>
          <a:ln w="12700">
            <a:solidFill>
              <a:srgbClr val="E3F4F1"/>
            </a:solidFill>
            <a:prstDash val="solid"/>
          </a:ln>
        </p:spPr>
      </p:sp>
      <p:sp>
        <p:nvSpPr>
          <p:cNvPr id="20" name="Text 17"/>
          <p:cNvSpPr txBox="1"/>
          <p:nvPr/>
        </p:nvSpPr>
        <p:spPr>
          <a:xfrm>
            <a:off x="7863840" y="333756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Stock Assessment</a:t>
            </a:r>
            <a:endParaRPr lang="ja-JP" sz="1300" dirty="0"/>
          </a:p>
        </p:txBody>
      </p:sp>
      <p:sp>
        <p:nvSpPr>
          <p:cNvPr id="21" name="Text 18"/>
          <p:cNvSpPr txBox="1"/>
          <p:nvPr/>
        </p:nvSpPr>
        <p:spPr>
          <a:xfrm>
            <a:off x="10195560" y="333756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資源評価</a:t>
            </a:r>
            <a:endParaRPr lang="ja-JP" sz="1500" dirty="0"/>
          </a:p>
        </p:txBody>
      </p:sp>
      <p:sp>
        <p:nvSpPr>
          <p:cNvPr id="22" name="Shape 19"/>
          <p:cNvSpPr/>
          <p:nvPr/>
        </p:nvSpPr>
        <p:spPr>
          <a:xfrm>
            <a:off x="7726680" y="4297680"/>
            <a:ext cx="3657600" cy="822960"/>
          </a:xfrm>
          <a:prstGeom prst="roundRect">
            <a:avLst>
              <a:gd name="adj" fmla="val 13333"/>
            </a:avLst>
          </a:prstGeom>
          <a:solidFill>
            <a:srgbClr val="E3F4F1"/>
          </a:solidFill>
          <a:ln w="12700">
            <a:solidFill>
              <a:srgbClr val="E3F4F1"/>
            </a:solidFill>
            <a:prstDash val="solid"/>
          </a:ln>
        </p:spPr>
      </p:sp>
      <p:sp>
        <p:nvSpPr>
          <p:cNvPr id="23" name="Text 20"/>
          <p:cNvSpPr txBox="1"/>
          <p:nvPr/>
        </p:nvSpPr>
        <p:spPr>
          <a:xfrm>
            <a:off x="7863840" y="429768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Fisheries Management</a:t>
            </a:r>
            <a:endParaRPr lang="ja-JP" sz="1300" dirty="0"/>
          </a:p>
        </p:txBody>
      </p:sp>
      <p:sp>
        <p:nvSpPr>
          <p:cNvPr id="24" name="Text 21"/>
          <p:cNvSpPr txBox="1"/>
          <p:nvPr/>
        </p:nvSpPr>
        <p:spPr>
          <a:xfrm>
            <a:off x="10195560" y="429768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漁業管理</a:t>
            </a:r>
            <a:endParaRPr lang="ja-JP" sz="1500" dirty="0"/>
          </a:p>
        </p:txBody>
      </p:sp>
      <p:sp>
        <p:nvSpPr>
          <p:cNvPr id="25" name="Text 22"/>
          <p:cNvSpPr txBox="1"/>
          <p:nvPr/>
        </p:nvSpPr>
        <p:spPr>
          <a:xfrm>
            <a:off x="7726680" y="5303520"/>
            <a:ext cx="3749040" cy="64008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どれも水産資源学の一部分しか表さない</a:t>
            </a:r>
            <a:endParaRPr lang="ja-JP"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日本発の学問，そして社会が必要とする学問</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6</a:t>
            </a:r>
            <a:endParaRPr lang="ja-JP" sz="1000" dirty="0"/>
          </a:p>
        </p:txBody>
      </p:sp>
      <p:sp>
        <p:nvSpPr>
          <p:cNvPr id="6" name="Text 4"/>
          <p:cNvSpPr txBox="1"/>
          <p:nvPr/>
        </p:nvSpPr>
        <p:spPr>
          <a:xfrm>
            <a:off x="548640" y="1371600"/>
            <a:ext cx="5486400" cy="45720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日本発の水産学</a:t>
            </a:r>
            <a:endParaRPr lang="ja-JP" sz="2000" dirty="0"/>
          </a:p>
        </p:txBody>
      </p:sp>
      <p:sp>
        <p:nvSpPr>
          <p:cNvPr id="7" name="Shape 5"/>
          <p:cNvSpPr/>
          <p:nvPr/>
        </p:nvSpPr>
        <p:spPr>
          <a:xfrm>
            <a:off x="548640" y="1920240"/>
            <a:ext cx="5669280" cy="1280160"/>
          </a:xfrm>
          <a:prstGeom prst="roundRect">
            <a:avLst>
              <a:gd name="adj" fmla="val 8571"/>
            </a:avLst>
          </a:prstGeom>
          <a:solidFill>
            <a:srgbClr val="E3F4F1"/>
          </a:solidFill>
          <a:ln w="12700">
            <a:solidFill>
              <a:srgbClr val="E3F4F1"/>
            </a:solidFill>
            <a:prstDash val="solid"/>
          </a:ln>
        </p:spPr>
      </p:sp>
      <p:sp>
        <p:nvSpPr>
          <p:cNvPr id="8" name="Shape 6"/>
          <p:cNvSpPr/>
          <p:nvPr/>
        </p:nvSpPr>
        <p:spPr>
          <a:xfrm>
            <a:off x="731520" y="2194560"/>
            <a:ext cx="731520" cy="731520"/>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907085" y="2370125"/>
            <a:ext cx="380390" cy="380390"/>
          </a:xfrm>
          <a:prstGeom prst="rect">
            <a:avLst/>
          </a:prstGeom>
        </p:spPr>
      </p:pic>
      <p:sp>
        <p:nvSpPr>
          <p:cNvPr id="10" name="Text 7"/>
          <p:cNvSpPr txBox="1"/>
          <p:nvPr/>
        </p:nvSpPr>
        <p:spPr>
          <a:xfrm>
            <a:off x="1645920" y="2057400"/>
            <a:ext cx="443484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北海道から発祥</a:t>
            </a:r>
            <a:endParaRPr lang="ja-JP" sz="1800" dirty="0"/>
          </a:p>
        </p:txBody>
      </p:sp>
      <p:sp>
        <p:nvSpPr>
          <p:cNvPr id="11" name="Text 8"/>
          <p:cNvSpPr txBox="1"/>
          <p:nvPr/>
        </p:nvSpPr>
        <p:spPr>
          <a:xfrm>
            <a:off x="1645920" y="251460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1901年，北海道でニシンの水産資源学的研究が始まった</a:t>
            </a:r>
            <a:endParaRPr lang="ja-JP" sz="1400" dirty="0"/>
          </a:p>
        </p:txBody>
      </p:sp>
      <p:sp>
        <p:nvSpPr>
          <p:cNvPr id="12" name="Shape 9"/>
          <p:cNvSpPr/>
          <p:nvPr/>
        </p:nvSpPr>
        <p:spPr>
          <a:xfrm>
            <a:off x="548640" y="3337560"/>
            <a:ext cx="5669280" cy="1280160"/>
          </a:xfrm>
          <a:prstGeom prst="roundRect">
            <a:avLst>
              <a:gd name="adj" fmla="val 8571"/>
            </a:avLst>
          </a:prstGeom>
          <a:solidFill>
            <a:srgbClr val="FFE8E1"/>
          </a:solidFill>
          <a:ln w="12700">
            <a:solidFill>
              <a:srgbClr val="FFE8E1"/>
            </a:solidFill>
            <a:prstDash val="solid"/>
          </a:ln>
        </p:spPr>
      </p:sp>
      <p:sp>
        <p:nvSpPr>
          <p:cNvPr id="13" name="Shape 10"/>
          <p:cNvSpPr/>
          <p:nvPr/>
        </p:nvSpPr>
        <p:spPr>
          <a:xfrm>
            <a:off x="731520" y="3611880"/>
            <a:ext cx="731520" cy="731520"/>
          </a:xfrm>
          <a:prstGeom prst="ellipse">
            <a:avLst/>
          </a:prstGeom>
          <a:solidFill>
            <a:srgbClr val="FF7A59"/>
          </a:solidFill>
          <a:ln w="12700">
            <a:solidFill>
              <a:srgbClr val="FF7A59"/>
            </a:solidFill>
            <a:prstDash val="solid"/>
          </a:ln>
        </p:spPr>
      </p:sp>
      <p:pic>
        <p:nvPicPr>
          <p:cNvPr id="14" name="Image 1" descr="preencoded.png">    </p:cNvPr>
          <p:cNvPicPr>
            <a:picLocks noChangeAspect="1"/>
          </p:cNvPicPr>
          <p:nvPr/>
        </p:nvPicPr>
        <p:blipFill>
          <a:blip r:embed="rId2"/>
          <a:stretch>
            <a:fillRect/>
          </a:stretch>
        </p:blipFill>
        <p:spPr>
          <a:xfrm>
            <a:off x="907085" y="3787445"/>
            <a:ext cx="380390" cy="380390"/>
          </a:xfrm>
          <a:prstGeom prst="rect">
            <a:avLst/>
          </a:prstGeom>
        </p:spPr>
      </p:pic>
      <p:sp>
        <p:nvSpPr>
          <p:cNvPr id="15" name="Text 11"/>
          <p:cNvSpPr txBox="1"/>
          <p:nvPr/>
        </p:nvSpPr>
        <p:spPr>
          <a:xfrm>
            <a:off x="1645920" y="3474720"/>
            <a:ext cx="4434840" cy="457200"/>
          </a:xfrm>
          <a:prstGeom prst="rect">
            <a:avLst/>
          </a:prstGeom>
          <a:noFill/>
          <a:ln/>
        </p:spPr>
        <p:txBody>
          <a:bodyPr wrap="square" lIns="0" tIns="0" rIns="0" bIns="0" rtlCol="0" anchor="ctr"/>
          <a:lstStyle/>
          <a:p>
            <a:pPr indent="0" marL="0">
              <a:buNone/>
            </a:pPr>
            <a:r>
              <a:rPr lang="ja-JP" altLang="en-US" sz="1800" b="1" dirty="0">
                <a:solidFill>
                  <a:srgbClr val="D9573A"/>
                </a:solidFill>
                <a:latin typeface="BIZ UDPGothic" pitchFamily="34" charset="0"/>
                <a:ea typeface="BIZ UDPGothic" pitchFamily="34" charset="-122"/>
                <a:cs typeface="BIZ UDPGothic" pitchFamily="34" charset="-120"/>
              </a:rPr>
              <a:t>世界に先駆けて教科書が刊行</a:t>
            </a:r>
            <a:endParaRPr lang="ja-JP" sz="1800" dirty="0"/>
          </a:p>
        </p:txBody>
      </p:sp>
      <p:sp>
        <p:nvSpPr>
          <p:cNvPr id="16" name="Text 12"/>
          <p:cNvSpPr txBox="1"/>
          <p:nvPr/>
        </p:nvSpPr>
        <p:spPr>
          <a:xfrm>
            <a:off x="1645920" y="393192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『水産資源学』というタイトルの教科書が，世界に先駆けて日本で出版された</a:t>
            </a:r>
            <a:endParaRPr lang="ja-JP" sz="1400" dirty="0"/>
          </a:p>
        </p:txBody>
      </p:sp>
      <p:sp>
        <p:nvSpPr>
          <p:cNvPr id="17" name="Shape 13"/>
          <p:cNvSpPr/>
          <p:nvPr/>
        </p:nvSpPr>
        <p:spPr>
          <a:xfrm>
            <a:off x="548640" y="4754880"/>
            <a:ext cx="5669280" cy="1280160"/>
          </a:xfrm>
          <a:prstGeom prst="roundRect">
            <a:avLst>
              <a:gd name="adj" fmla="val 8571"/>
            </a:avLst>
          </a:prstGeom>
          <a:solidFill>
            <a:srgbClr val="E3F4F1"/>
          </a:solidFill>
          <a:ln w="12700">
            <a:solidFill>
              <a:srgbClr val="E3F4F1"/>
            </a:solidFill>
            <a:prstDash val="solid"/>
          </a:ln>
        </p:spPr>
      </p:sp>
      <p:sp>
        <p:nvSpPr>
          <p:cNvPr id="18" name="Shape 14"/>
          <p:cNvSpPr/>
          <p:nvPr/>
        </p:nvSpPr>
        <p:spPr>
          <a:xfrm>
            <a:off x="731520" y="5029200"/>
            <a:ext cx="731520" cy="731520"/>
          </a:xfrm>
          <a:prstGeom prst="ellipse">
            <a:avLst/>
          </a:prstGeom>
          <a:solidFill>
            <a:srgbClr val="1A8F8A"/>
          </a:solidFill>
          <a:ln w="12700">
            <a:solidFill>
              <a:srgbClr val="1A8F8A"/>
            </a:solidFill>
            <a:prstDash val="solid"/>
          </a:ln>
        </p:spPr>
      </p:sp>
      <p:pic>
        <p:nvPicPr>
          <p:cNvPr id="19" name="Image 2" descr="preencoded.png">    </p:cNvPr>
          <p:cNvPicPr>
            <a:picLocks noChangeAspect="1"/>
          </p:cNvPicPr>
          <p:nvPr/>
        </p:nvPicPr>
        <p:blipFill>
          <a:blip r:embed="rId3"/>
          <a:stretch>
            <a:fillRect/>
          </a:stretch>
        </p:blipFill>
        <p:spPr>
          <a:xfrm>
            <a:off x="907085" y="5204765"/>
            <a:ext cx="380390" cy="380390"/>
          </a:xfrm>
          <a:prstGeom prst="rect">
            <a:avLst/>
          </a:prstGeom>
        </p:spPr>
      </p:pic>
      <p:sp>
        <p:nvSpPr>
          <p:cNvPr id="20" name="Text 15"/>
          <p:cNvSpPr txBox="1"/>
          <p:nvPr/>
        </p:nvSpPr>
        <p:spPr>
          <a:xfrm>
            <a:off x="1645920" y="4892040"/>
            <a:ext cx="443484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日本で独自に発展した学問体系</a:t>
            </a:r>
            <a:endParaRPr lang="ja-JP" sz="1800" dirty="0"/>
          </a:p>
        </p:txBody>
      </p:sp>
      <p:sp>
        <p:nvSpPr>
          <p:cNvPr id="21" name="Text 16"/>
          <p:cNvSpPr txBox="1"/>
          <p:nvPr/>
        </p:nvSpPr>
        <p:spPr>
          <a:xfrm>
            <a:off x="1645920" y="534924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欧米の手法を取り込みつつ，日本で独自に発展した</a:t>
            </a:r>
            <a:endParaRPr lang="ja-JP" sz="1400" dirty="0"/>
          </a:p>
        </p:txBody>
      </p:sp>
      <p:sp>
        <p:nvSpPr>
          <p:cNvPr id="22" name="Shape 17"/>
          <p:cNvSpPr/>
          <p:nvPr/>
        </p:nvSpPr>
        <p:spPr>
          <a:xfrm>
            <a:off x="6583680" y="1371600"/>
            <a:ext cx="5029200" cy="4754880"/>
          </a:xfrm>
          <a:prstGeom prst="roundRect">
            <a:avLst>
              <a:gd name="adj" fmla="val 2308"/>
            </a:avLst>
          </a:prstGeom>
          <a:solidFill>
            <a:srgbClr val="0E3B4F"/>
          </a:solidFill>
          <a:ln w="12700">
            <a:solidFill>
              <a:srgbClr val="0E3B4F"/>
            </a:solidFill>
            <a:prstDash val="solid"/>
          </a:ln>
        </p:spPr>
      </p:sp>
      <p:sp>
        <p:nvSpPr>
          <p:cNvPr id="23" name="Text 18"/>
          <p:cNvSpPr txBox="1"/>
          <p:nvPr/>
        </p:nvSpPr>
        <p:spPr>
          <a:xfrm>
            <a:off x="6858000" y="1554480"/>
            <a:ext cx="4572000" cy="457200"/>
          </a:xfrm>
          <a:prstGeom prst="rect">
            <a:avLst/>
          </a:prstGeom>
          <a:noFill/>
          <a:ln/>
        </p:spPr>
        <p:txBody>
          <a:bodyPr wrap="square" lIns="0" tIns="0" rIns="0" bIns="0" rtlCol="0" anchor="ctr"/>
          <a:lstStyle/>
          <a:p>
            <a:pPr indent="0" marL="0">
              <a:buNone/>
            </a:pPr>
            <a:r>
              <a:rPr lang="ja-JP" altLang="en-US" sz="1900" b="1" dirty="0">
                <a:solidFill>
                  <a:srgbClr val="FF7A59"/>
                </a:solidFill>
                <a:latin typeface="BIZ UDPGothic" pitchFamily="34" charset="0"/>
                <a:ea typeface="BIZ UDPGothic" pitchFamily="34" charset="-122"/>
                <a:cs typeface="BIZ UDPGothic" pitchFamily="34" charset="-120"/>
              </a:rPr>
              <a:t>社会的に大きな期待とニーズがある</a:t>
            </a:r>
            <a:endParaRPr lang="ja-JP" sz="1900" dirty="0"/>
          </a:p>
        </p:txBody>
      </p:sp>
      <p:sp>
        <p:nvSpPr>
          <p:cNvPr id="24" name="Shape 19"/>
          <p:cNvSpPr/>
          <p:nvPr/>
        </p:nvSpPr>
        <p:spPr>
          <a:xfrm>
            <a:off x="6858000" y="2194560"/>
            <a:ext cx="640080" cy="640080"/>
          </a:xfrm>
          <a:prstGeom prst="ellipse">
            <a:avLst/>
          </a:prstGeom>
          <a:solidFill>
            <a:srgbClr val="1A8F8A"/>
          </a:solidFill>
          <a:ln w="12700">
            <a:solidFill>
              <a:srgbClr val="1A8F8A"/>
            </a:solidFill>
            <a:prstDash val="solid"/>
          </a:ln>
        </p:spPr>
      </p:sp>
      <p:pic>
        <p:nvPicPr>
          <p:cNvPr id="25" name="Image 3" descr="preencoded.png">    </p:cNvPr>
          <p:cNvPicPr>
            <a:picLocks noChangeAspect="1"/>
          </p:cNvPicPr>
          <p:nvPr/>
        </p:nvPicPr>
        <p:blipFill>
          <a:blip r:embed="rId4"/>
          <a:stretch>
            <a:fillRect/>
          </a:stretch>
        </p:blipFill>
        <p:spPr>
          <a:xfrm>
            <a:off x="7011619" y="2348179"/>
            <a:ext cx="332842" cy="332842"/>
          </a:xfrm>
          <a:prstGeom prst="rect">
            <a:avLst/>
          </a:prstGeom>
        </p:spPr>
      </p:pic>
      <p:sp>
        <p:nvSpPr>
          <p:cNvPr id="26" name="Text 20"/>
          <p:cNvSpPr txBox="1"/>
          <p:nvPr/>
        </p:nvSpPr>
        <p:spPr>
          <a:xfrm>
            <a:off x="7680960" y="217627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法律が求める</a:t>
            </a:r>
            <a:endParaRPr lang="ja-JP" sz="1600" dirty="0"/>
          </a:p>
        </p:txBody>
      </p:sp>
      <p:sp>
        <p:nvSpPr>
          <p:cNvPr id="27" name="Text 21"/>
          <p:cNvSpPr txBox="1"/>
          <p:nvPr/>
        </p:nvSpPr>
        <p:spPr>
          <a:xfrm>
            <a:off x="7680960" y="256032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国連海洋法条約（日本は1996年に批准）と漁業法で，資源評価に基づく管理が義務に</a:t>
            </a:r>
            <a:endParaRPr lang="ja-JP" sz="1300" dirty="0"/>
          </a:p>
        </p:txBody>
      </p:sp>
      <p:sp>
        <p:nvSpPr>
          <p:cNvPr id="28" name="Shape 22"/>
          <p:cNvSpPr/>
          <p:nvPr/>
        </p:nvSpPr>
        <p:spPr>
          <a:xfrm>
            <a:off x="6858000" y="3474720"/>
            <a:ext cx="640080" cy="640080"/>
          </a:xfrm>
          <a:prstGeom prst="ellipse">
            <a:avLst/>
          </a:prstGeom>
          <a:solidFill>
            <a:srgbClr val="1A8F8A"/>
          </a:solidFill>
          <a:ln w="12700">
            <a:solidFill>
              <a:srgbClr val="1A8F8A"/>
            </a:solidFill>
            <a:prstDash val="solid"/>
          </a:ln>
        </p:spPr>
      </p:sp>
      <p:pic>
        <p:nvPicPr>
          <p:cNvPr id="29" name="Image 4" descr="preencoded.png">    </p:cNvPr>
          <p:cNvPicPr>
            <a:picLocks noChangeAspect="1"/>
          </p:cNvPicPr>
          <p:nvPr/>
        </p:nvPicPr>
        <p:blipFill>
          <a:blip r:embed="rId5"/>
          <a:stretch>
            <a:fillRect/>
          </a:stretch>
        </p:blipFill>
        <p:spPr>
          <a:xfrm>
            <a:off x="7011619" y="3628339"/>
            <a:ext cx="332842" cy="332842"/>
          </a:xfrm>
          <a:prstGeom prst="rect">
            <a:avLst/>
          </a:prstGeom>
        </p:spPr>
      </p:pic>
      <p:sp>
        <p:nvSpPr>
          <p:cNvPr id="30" name="Text 23"/>
          <p:cNvSpPr txBox="1"/>
          <p:nvPr/>
        </p:nvSpPr>
        <p:spPr>
          <a:xfrm>
            <a:off x="7680960" y="345643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水産試験場・水産研究所等で広く研究</a:t>
            </a:r>
            <a:endParaRPr lang="ja-JP" sz="1600" dirty="0"/>
          </a:p>
        </p:txBody>
      </p:sp>
      <p:sp>
        <p:nvSpPr>
          <p:cNvPr id="31" name="Text 24"/>
          <p:cNvSpPr txBox="1"/>
          <p:nvPr/>
        </p:nvSpPr>
        <p:spPr>
          <a:xfrm>
            <a:off x="7680960" y="384048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都道府県の水産試験場，水産研究・教育機構，水産庁</a:t>
            </a:r>
            <a:endParaRPr lang="ja-JP" sz="1300" dirty="0"/>
          </a:p>
        </p:txBody>
      </p:sp>
      <p:sp>
        <p:nvSpPr>
          <p:cNvPr id="32" name="Shape 25"/>
          <p:cNvSpPr/>
          <p:nvPr/>
        </p:nvSpPr>
        <p:spPr>
          <a:xfrm>
            <a:off x="6858000" y="4754880"/>
            <a:ext cx="640080" cy="640080"/>
          </a:xfrm>
          <a:prstGeom prst="ellipse">
            <a:avLst/>
          </a:prstGeom>
          <a:solidFill>
            <a:srgbClr val="FF7A59"/>
          </a:solidFill>
          <a:ln w="12700">
            <a:solidFill>
              <a:srgbClr val="FF7A59"/>
            </a:solidFill>
            <a:prstDash val="solid"/>
          </a:ln>
        </p:spPr>
      </p:sp>
      <p:pic>
        <p:nvPicPr>
          <p:cNvPr id="33" name="Image 5" descr="preencoded.png">    </p:cNvPr>
          <p:cNvPicPr>
            <a:picLocks noChangeAspect="1"/>
          </p:cNvPicPr>
          <p:nvPr/>
        </p:nvPicPr>
        <p:blipFill>
          <a:blip r:embed="rId6"/>
          <a:stretch>
            <a:fillRect/>
          </a:stretch>
        </p:blipFill>
        <p:spPr>
          <a:xfrm>
            <a:off x="7011619" y="4908499"/>
            <a:ext cx="332842" cy="332842"/>
          </a:xfrm>
          <a:prstGeom prst="rect">
            <a:avLst/>
          </a:prstGeom>
        </p:spPr>
      </p:pic>
      <p:sp>
        <p:nvSpPr>
          <p:cNvPr id="34" name="Text 26"/>
          <p:cNvSpPr txBox="1"/>
          <p:nvPr/>
        </p:nvSpPr>
        <p:spPr>
          <a:xfrm>
            <a:off x="7680960" y="473659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人材の養成が急務</a:t>
            </a:r>
            <a:endParaRPr lang="ja-JP" sz="1600" dirty="0"/>
          </a:p>
        </p:txBody>
      </p:sp>
      <p:sp>
        <p:nvSpPr>
          <p:cNvPr id="35" name="Text 27"/>
          <p:cNvSpPr txBox="1"/>
          <p:nvPr/>
        </p:nvSpPr>
        <p:spPr>
          <a:xfrm>
            <a:off x="7680960" y="512064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資源評価の対象種は増え続けている</a:t>
            </a:r>
            <a:endParaRPr lang="ja-JP"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到達目標</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7</a:t>
            </a:r>
            <a:endParaRPr lang="ja-JP" sz="1000" dirty="0"/>
          </a:p>
        </p:txBody>
      </p:sp>
      <p:sp>
        <p:nvSpPr>
          <p:cNvPr id="5" name="Shape 3"/>
          <p:cNvSpPr/>
          <p:nvPr/>
        </p:nvSpPr>
        <p:spPr>
          <a:xfrm>
            <a:off x="548640" y="1499616"/>
            <a:ext cx="658368" cy="658368"/>
          </a:xfrm>
          <a:prstGeom prst="ellipse">
            <a:avLst/>
          </a:prstGeom>
          <a:solidFill>
            <a:srgbClr val="0E3B4F"/>
          </a:solidFill>
          <a:ln w="12700">
            <a:solidFill>
              <a:srgbClr val="FFFFFF"/>
            </a:solidFill>
            <a:prstDash val="solid"/>
          </a:ln>
        </p:spPr>
      </p:sp>
      <p:sp>
        <p:nvSpPr>
          <p:cNvPr id="6" name="Text 4"/>
          <p:cNvSpPr txBox="1"/>
          <p:nvPr/>
        </p:nvSpPr>
        <p:spPr>
          <a:xfrm>
            <a:off x="548640" y="149961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1</a:t>
            </a:r>
            <a:endParaRPr lang="ja-JP" sz="2200" dirty="0"/>
          </a:p>
        </p:txBody>
      </p:sp>
      <p:sp>
        <p:nvSpPr>
          <p:cNvPr id="7" name="Text 5"/>
          <p:cNvSpPr txBox="1"/>
          <p:nvPr/>
        </p:nvSpPr>
        <p:spPr>
          <a:xfrm>
            <a:off x="1417320" y="137160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データ収集，水産資源評価から管理実施に至るまでの漁業管理の全ての過程を科学的に立案できるようになる。</a:t>
            </a:r>
            <a:endParaRPr lang="ja-JP" sz="1900" dirty="0"/>
          </a:p>
        </p:txBody>
      </p:sp>
      <p:sp>
        <p:nvSpPr>
          <p:cNvPr id="8" name="Shape 6"/>
          <p:cNvSpPr/>
          <p:nvPr/>
        </p:nvSpPr>
        <p:spPr>
          <a:xfrm>
            <a:off x="548640" y="2505456"/>
            <a:ext cx="658368" cy="658368"/>
          </a:xfrm>
          <a:prstGeom prst="ellipse">
            <a:avLst/>
          </a:prstGeom>
          <a:solidFill>
            <a:srgbClr val="1A8F8A"/>
          </a:solidFill>
          <a:ln w="12700">
            <a:solidFill>
              <a:srgbClr val="FFFFFF"/>
            </a:solidFill>
            <a:prstDash val="solid"/>
          </a:ln>
        </p:spPr>
      </p:sp>
      <p:sp>
        <p:nvSpPr>
          <p:cNvPr id="9" name="Text 7"/>
          <p:cNvSpPr txBox="1"/>
          <p:nvPr/>
        </p:nvSpPr>
        <p:spPr>
          <a:xfrm>
            <a:off x="548640" y="250545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2</a:t>
            </a:r>
            <a:endParaRPr lang="ja-JP" sz="2200" dirty="0"/>
          </a:p>
        </p:txBody>
      </p:sp>
      <p:sp>
        <p:nvSpPr>
          <p:cNvPr id="10" name="Text 8"/>
          <p:cNvSpPr txBox="1"/>
          <p:nvPr/>
        </p:nvSpPr>
        <p:spPr>
          <a:xfrm>
            <a:off x="1417320" y="237744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資源量推定の考え方を理解し，必要な情報の収集を立案できるようになる。</a:t>
            </a:r>
            <a:endParaRPr lang="ja-JP" sz="1900" dirty="0"/>
          </a:p>
        </p:txBody>
      </p:sp>
      <p:sp>
        <p:nvSpPr>
          <p:cNvPr id="11" name="Shape 9"/>
          <p:cNvSpPr/>
          <p:nvPr/>
        </p:nvSpPr>
        <p:spPr>
          <a:xfrm>
            <a:off x="548640" y="3511296"/>
            <a:ext cx="658368" cy="658368"/>
          </a:xfrm>
          <a:prstGeom prst="ellipse">
            <a:avLst/>
          </a:prstGeom>
          <a:solidFill>
            <a:srgbClr val="0E3B4F"/>
          </a:solidFill>
          <a:ln w="12700">
            <a:solidFill>
              <a:srgbClr val="FFFFFF"/>
            </a:solidFill>
            <a:prstDash val="solid"/>
          </a:ln>
        </p:spPr>
      </p:sp>
      <p:sp>
        <p:nvSpPr>
          <p:cNvPr id="12" name="Text 10"/>
          <p:cNvSpPr txBox="1"/>
          <p:nvPr/>
        </p:nvSpPr>
        <p:spPr>
          <a:xfrm>
            <a:off x="548640" y="351129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3</a:t>
            </a:r>
            <a:endParaRPr lang="ja-JP" sz="2200" dirty="0"/>
          </a:p>
        </p:txBody>
      </p:sp>
      <p:sp>
        <p:nvSpPr>
          <p:cNvPr id="13" name="Text 11"/>
          <p:cNvSpPr txBox="1"/>
          <p:nvPr/>
        </p:nvSpPr>
        <p:spPr>
          <a:xfrm>
            <a:off x="1417320" y="338328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漁業管理実施に伴う水産資源の動向を説明できるようになる。</a:t>
            </a:r>
            <a:endParaRPr lang="ja-JP" sz="1900" dirty="0"/>
          </a:p>
        </p:txBody>
      </p:sp>
      <p:sp>
        <p:nvSpPr>
          <p:cNvPr id="14" name="Shape 12"/>
          <p:cNvSpPr/>
          <p:nvPr/>
        </p:nvSpPr>
        <p:spPr>
          <a:xfrm>
            <a:off x="548640" y="4517136"/>
            <a:ext cx="658368" cy="658368"/>
          </a:xfrm>
          <a:prstGeom prst="ellipse">
            <a:avLst/>
          </a:prstGeom>
          <a:solidFill>
            <a:srgbClr val="1A8F8A"/>
          </a:solidFill>
          <a:ln w="12700">
            <a:solidFill>
              <a:srgbClr val="FFFFFF"/>
            </a:solidFill>
            <a:prstDash val="solid"/>
          </a:ln>
        </p:spPr>
      </p:sp>
      <p:sp>
        <p:nvSpPr>
          <p:cNvPr id="15" name="Text 13"/>
          <p:cNvSpPr txBox="1"/>
          <p:nvPr/>
        </p:nvSpPr>
        <p:spPr>
          <a:xfrm>
            <a:off x="548640" y="451713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4</a:t>
            </a:r>
            <a:endParaRPr lang="ja-JP" sz="2200" dirty="0"/>
          </a:p>
        </p:txBody>
      </p:sp>
      <p:sp>
        <p:nvSpPr>
          <p:cNvPr id="16" name="Text 14"/>
          <p:cNvSpPr txBox="1"/>
          <p:nvPr/>
        </p:nvSpPr>
        <p:spPr>
          <a:xfrm>
            <a:off x="1417320" y="438912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漁業管理方針と種々の条件のもとでの，科学的根拠にもとづいた漁業管理方策を立案できるようになる。</a:t>
            </a:r>
            <a:endParaRPr lang="ja-JP" sz="1900" dirty="0"/>
          </a:p>
        </p:txBody>
      </p:sp>
      <p:sp>
        <p:nvSpPr>
          <p:cNvPr id="17" name="Shape 15"/>
          <p:cNvSpPr/>
          <p:nvPr/>
        </p:nvSpPr>
        <p:spPr>
          <a:xfrm>
            <a:off x="548640" y="5577840"/>
            <a:ext cx="11064240" cy="640080"/>
          </a:xfrm>
          <a:prstGeom prst="roundRect">
            <a:avLst>
              <a:gd name="adj" fmla="val 17143"/>
            </a:avLst>
          </a:prstGeom>
          <a:solidFill>
            <a:srgbClr val="E3F4F1"/>
          </a:solidFill>
          <a:ln w="12700">
            <a:solidFill>
              <a:srgbClr val="E3F4F1"/>
            </a:solidFill>
            <a:prstDash val="solid"/>
          </a:ln>
        </p:spPr>
      </p:sp>
      <p:sp>
        <p:nvSpPr>
          <p:cNvPr id="18" name="Text 16"/>
          <p:cNvSpPr txBox="1"/>
          <p:nvPr/>
        </p:nvSpPr>
        <p:spPr>
          <a:xfrm>
            <a:off x="822960" y="5577840"/>
            <a:ext cx="10607040" cy="640080"/>
          </a:xfrm>
          <a:prstGeom prst="rect">
            <a:avLst/>
          </a:prstGeom>
          <a:noFill/>
          <a:ln/>
        </p:spPr>
        <p:txBody>
          <a:bodyPr wrap="square" lIns="0" tIns="0" rIns="0" bIns="0" rtlCol="0" anchor="ctr"/>
          <a:lstStyle/>
          <a:p>
            <a:pPr indent="0" marL="0">
              <a:buNone/>
            </a:pPr>
            <a:r>
              <a:rPr lang="ja-JP" altLang="en-US" sz="1700" b="1" dirty="0">
                <a:solidFill>
                  <a:srgbClr val="1A8F8A"/>
                </a:solidFill>
                <a:latin typeface="BIZ UDPGothic" pitchFamily="34" charset="0"/>
                <a:ea typeface="BIZ UDPGothic" pitchFamily="34" charset="-122"/>
                <a:cs typeface="BIZ UDPGothic" pitchFamily="34" charset="-120"/>
              </a:rPr>
              <a:t>キーワード　</a:t>
            </a:r>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データ収集 → 資源評価 → 管理方策の立案 → 資源の動向</a:t>
            </a:r>
            <a:endParaRPr lang="ja-JP"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授業の構成：教科書の章立てに沿って進む</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隆『水産資源学［二訂版］』海文堂出版，目次</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8</a:t>
            </a:r>
            <a:endParaRPr lang="ja-JP" sz="1000" dirty="0"/>
          </a:p>
        </p:txBody>
      </p:sp>
      <p:sp>
        <p:nvSpPr>
          <p:cNvPr id="6" name="Shape 4"/>
          <p:cNvSpPr/>
          <p:nvPr/>
        </p:nvSpPr>
        <p:spPr>
          <a:xfrm>
            <a:off x="548640" y="1463040"/>
            <a:ext cx="1691640" cy="2834640"/>
          </a:xfrm>
          <a:prstGeom prst="roundRect">
            <a:avLst>
              <a:gd name="adj" fmla="val 6486"/>
            </a:avLst>
          </a:prstGeom>
          <a:solidFill>
            <a:srgbClr val="E3F4F1"/>
          </a:solidFill>
          <a:ln w="12700">
            <a:solidFill>
              <a:srgbClr val="E3F4F1"/>
            </a:solidFill>
            <a:prstDash val="solid"/>
          </a:ln>
        </p:spPr>
      </p:sp>
      <p:sp>
        <p:nvSpPr>
          <p:cNvPr id="7" name="Shape 5"/>
          <p:cNvSpPr/>
          <p:nvPr/>
        </p:nvSpPr>
        <p:spPr>
          <a:xfrm>
            <a:off x="1028700" y="1691640"/>
            <a:ext cx="731520" cy="731520"/>
          </a:xfrm>
          <a:prstGeom prst="ellipse">
            <a:avLst/>
          </a:prstGeom>
          <a:solidFill>
            <a:srgbClr val="0E3B4F"/>
          </a:solidFill>
          <a:ln w="12700">
            <a:solidFill>
              <a:srgbClr val="0E3B4F"/>
            </a:solidFill>
            <a:prstDash val="solid"/>
          </a:ln>
        </p:spPr>
      </p:sp>
      <p:pic>
        <p:nvPicPr>
          <p:cNvPr id="8" name="Image 0" descr="preencoded.png">    </p:cNvPr>
          <p:cNvPicPr>
            <a:picLocks noChangeAspect="1"/>
          </p:cNvPicPr>
          <p:nvPr/>
        </p:nvPicPr>
        <p:blipFill>
          <a:blip r:embed="rId1"/>
          <a:stretch>
            <a:fillRect/>
          </a:stretch>
        </p:blipFill>
        <p:spPr>
          <a:xfrm>
            <a:off x="1204265" y="1867205"/>
            <a:ext cx="380390" cy="380390"/>
          </a:xfrm>
          <a:prstGeom prst="rect">
            <a:avLst/>
          </a:prstGeom>
        </p:spPr>
      </p:pic>
      <p:sp>
        <p:nvSpPr>
          <p:cNvPr id="9" name="Text 6"/>
          <p:cNvSpPr txBox="1"/>
          <p:nvPr/>
        </p:nvSpPr>
        <p:spPr>
          <a:xfrm>
            <a:off x="5486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第1章</a:t>
            </a:r>
            <a:endParaRPr lang="ja-JP" sz="1800" dirty="0"/>
          </a:p>
        </p:txBody>
      </p:sp>
      <p:sp>
        <p:nvSpPr>
          <p:cNvPr id="10" name="Text 7"/>
          <p:cNvSpPr txBox="1"/>
          <p:nvPr/>
        </p:nvSpPr>
        <p:spPr>
          <a:xfrm>
            <a:off x="5943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水産資源の現状</a:t>
            </a:r>
            <a:endParaRPr lang="ja-JP" sz="1700" dirty="0"/>
          </a:p>
        </p:txBody>
      </p:sp>
      <p:sp>
        <p:nvSpPr>
          <p:cNvPr id="11" name="Shape 8"/>
          <p:cNvSpPr/>
          <p:nvPr/>
        </p:nvSpPr>
        <p:spPr>
          <a:xfrm>
            <a:off x="2423160" y="1463040"/>
            <a:ext cx="1691640" cy="2834640"/>
          </a:xfrm>
          <a:prstGeom prst="roundRect">
            <a:avLst>
              <a:gd name="adj" fmla="val 6486"/>
            </a:avLst>
          </a:prstGeom>
          <a:solidFill>
            <a:srgbClr val="E3F4F1"/>
          </a:solidFill>
          <a:ln w="12700">
            <a:solidFill>
              <a:srgbClr val="E3F4F1"/>
            </a:solidFill>
            <a:prstDash val="solid"/>
          </a:ln>
        </p:spPr>
      </p:sp>
      <p:sp>
        <p:nvSpPr>
          <p:cNvPr id="12" name="Shape 9"/>
          <p:cNvSpPr/>
          <p:nvPr/>
        </p:nvSpPr>
        <p:spPr>
          <a:xfrm>
            <a:off x="2903220" y="1691640"/>
            <a:ext cx="731520" cy="731520"/>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3078785" y="1867205"/>
            <a:ext cx="380390" cy="380390"/>
          </a:xfrm>
          <a:prstGeom prst="rect">
            <a:avLst/>
          </a:prstGeom>
        </p:spPr>
      </p:pic>
      <p:sp>
        <p:nvSpPr>
          <p:cNvPr id="14" name="Text 10"/>
          <p:cNvSpPr txBox="1"/>
          <p:nvPr/>
        </p:nvSpPr>
        <p:spPr>
          <a:xfrm>
            <a:off x="242316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第2章</a:t>
            </a:r>
            <a:endParaRPr lang="ja-JP" sz="1800" dirty="0"/>
          </a:p>
        </p:txBody>
      </p:sp>
      <p:sp>
        <p:nvSpPr>
          <p:cNvPr id="15" name="Text 11"/>
          <p:cNvSpPr txBox="1"/>
          <p:nvPr/>
        </p:nvSpPr>
        <p:spPr>
          <a:xfrm>
            <a:off x="246888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水産資源とは</a:t>
            </a:r>
            <a:endParaRPr lang="ja-JP" sz="1700" dirty="0"/>
          </a:p>
        </p:txBody>
      </p:sp>
      <p:sp>
        <p:nvSpPr>
          <p:cNvPr id="16" name="Shape 12"/>
          <p:cNvSpPr/>
          <p:nvPr/>
        </p:nvSpPr>
        <p:spPr>
          <a:xfrm>
            <a:off x="4297680" y="1463040"/>
            <a:ext cx="1691640" cy="2834640"/>
          </a:xfrm>
          <a:prstGeom prst="roundRect">
            <a:avLst>
              <a:gd name="adj" fmla="val 6486"/>
            </a:avLst>
          </a:prstGeom>
          <a:solidFill>
            <a:srgbClr val="E3F4F1"/>
          </a:solidFill>
          <a:ln w="12700">
            <a:solidFill>
              <a:srgbClr val="E3F4F1"/>
            </a:solidFill>
            <a:prstDash val="solid"/>
          </a:ln>
        </p:spPr>
      </p:sp>
      <p:sp>
        <p:nvSpPr>
          <p:cNvPr id="17" name="Shape 13"/>
          <p:cNvSpPr/>
          <p:nvPr/>
        </p:nvSpPr>
        <p:spPr>
          <a:xfrm>
            <a:off x="4777740" y="1691640"/>
            <a:ext cx="731520" cy="731520"/>
          </a:xfrm>
          <a:prstGeom prst="ellipse">
            <a:avLst/>
          </a:prstGeom>
          <a:solidFill>
            <a:srgbClr val="0E3B4F"/>
          </a:solidFill>
          <a:ln w="12700">
            <a:solidFill>
              <a:srgbClr val="0E3B4F"/>
            </a:solidFill>
            <a:prstDash val="solid"/>
          </a:ln>
        </p:spPr>
      </p:sp>
      <p:pic>
        <p:nvPicPr>
          <p:cNvPr id="18" name="Image 2" descr="preencoded.png">    </p:cNvPr>
          <p:cNvPicPr>
            <a:picLocks noChangeAspect="1"/>
          </p:cNvPicPr>
          <p:nvPr/>
        </p:nvPicPr>
        <p:blipFill>
          <a:blip r:embed="rId3"/>
          <a:stretch>
            <a:fillRect/>
          </a:stretch>
        </p:blipFill>
        <p:spPr>
          <a:xfrm>
            <a:off x="4953305" y="1867205"/>
            <a:ext cx="380390" cy="380390"/>
          </a:xfrm>
          <a:prstGeom prst="rect">
            <a:avLst/>
          </a:prstGeom>
        </p:spPr>
      </p:pic>
      <p:sp>
        <p:nvSpPr>
          <p:cNvPr id="19" name="Text 14"/>
          <p:cNvSpPr txBox="1"/>
          <p:nvPr/>
        </p:nvSpPr>
        <p:spPr>
          <a:xfrm>
            <a:off x="429768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第3章</a:t>
            </a:r>
            <a:endParaRPr lang="ja-JP" sz="1800" dirty="0"/>
          </a:p>
        </p:txBody>
      </p:sp>
      <p:sp>
        <p:nvSpPr>
          <p:cNvPr id="20" name="Text 15"/>
          <p:cNvSpPr txBox="1"/>
          <p:nvPr/>
        </p:nvSpPr>
        <p:spPr>
          <a:xfrm>
            <a:off x="434340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資源動態</a:t>
            </a:r>
            <a:endParaRPr lang="ja-JP" sz="1700" dirty="0"/>
          </a:p>
        </p:txBody>
      </p:sp>
      <p:sp>
        <p:nvSpPr>
          <p:cNvPr id="21" name="Shape 16"/>
          <p:cNvSpPr/>
          <p:nvPr/>
        </p:nvSpPr>
        <p:spPr>
          <a:xfrm>
            <a:off x="6172200" y="1463040"/>
            <a:ext cx="1691640" cy="2834640"/>
          </a:xfrm>
          <a:prstGeom prst="roundRect">
            <a:avLst>
              <a:gd name="adj" fmla="val 6486"/>
            </a:avLst>
          </a:prstGeom>
          <a:solidFill>
            <a:srgbClr val="E3F4F1"/>
          </a:solidFill>
          <a:ln w="12700">
            <a:solidFill>
              <a:srgbClr val="E3F4F1"/>
            </a:solidFill>
            <a:prstDash val="solid"/>
          </a:ln>
        </p:spPr>
      </p:sp>
      <p:sp>
        <p:nvSpPr>
          <p:cNvPr id="22" name="Shape 17"/>
          <p:cNvSpPr/>
          <p:nvPr/>
        </p:nvSpPr>
        <p:spPr>
          <a:xfrm>
            <a:off x="6652260" y="1691640"/>
            <a:ext cx="731520" cy="731520"/>
          </a:xfrm>
          <a:prstGeom prst="ellipse">
            <a:avLst/>
          </a:prstGeom>
          <a:solidFill>
            <a:srgbClr val="1A8F8A"/>
          </a:solidFill>
          <a:ln w="12700">
            <a:solidFill>
              <a:srgbClr val="1A8F8A"/>
            </a:solidFill>
            <a:prstDash val="solid"/>
          </a:ln>
        </p:spPr>
      </p:sp>
      <p:pic>
        <p:nvPicPr>
          <p:cNvPr id="23" name="Image 3" descr="preencoded.png">    </p:cNvPr>
          <p:cNvPicPr>
            <a:picLocks noChangeAspect="1"/>
          </p:cNvPicPr>
          <p:nvPr/>
        </p:nvPicPr>
        <p:blipFill>
          <a:blip r:embed="rId4"/>
          <a:stretch>
            <a:fillRect/>
          </a:stretch>
        </p:blipFill>
        <p:spPr>
          <a:xfrm>
            <a:off x="6827825" y="1867205"/>
            <a:ext cx="380390" cy="380390"/>
          </a:xfrm>
          <a:prstGeom prst="rect">
            <a:avLst/>
          </a:prstGeom>
        </p:spPr>
      </p:pic>
      <p:sp>
        <p:nvSpPr>
          <p:cNvPr id="24" name="Text 18"/>
          <p:cNvSpPr txBox="1"/>
          <p:nvPr/>
        </p:nvSpPr>
        <p:spPr>
          <a:xfrm>
            <a:off x="617220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第4章</a:t>
            </a:r>
            <a:endParaRPr lang="ja-JP" sz="1800" dirty="0"/>
          </a:p>
        </p:txBody>
      </p:sp>
      <p:sp>
        <p:nvSpPr>
          <p:cNvPr id="25" name="Text 19"/>
          <p:cNvSpPr txBox="1"/>
          <p:nvPr/>
        </p:nvSpPr>
        <p:spPr>
          <a:xfrm>
            <a:off x="621792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資源量推定</a:t>
            </a:r>
            <a:endParaRPr lang="ja-JP" sz="1700" dirty="0"/>
          </a:p>
        </p:txBody>
      </p:sp>
      <p:sp>
        <p:nvSpPr>
          <p:cNvPr id="26" name="Shape 20"/>
          <p:cNvSpPr/>
          <p:nvPr/>
        </p:nvSpPr>
        <p:spPr>
          <a:xfrm>
            <a:off x="8046720" y="1463040"/>
            <a:ext cx="1691640" cy="2834640"/>
          </a:xfrm>
          <a:prstGeom prst="roundRect">
            <a:avLst>
              <a:gd name="adj" fmla="val 6486"/>
            </a:avLst>
          </a:prstGeom>
          <a:solidFill>
            <a:srgbClr val="E3F4F1"/>
          </a:solidFill>
          <a:ln w="12700">
            <a:solidFill>
              <a:srgbClr val="E3F4F1"/>
            </a:solidFill>
            <a:prstDash val="solid"/>
          </a:ln>
        </p:spPr>
      </p:sp>
      <p:sp>
        <p:nvSpPr>
          <p:cNvPr id="27" name="Shape 21"/>
          <p:cNvSpPr/>
          <p:nvPr/>
        </p:nvSpPr>
        <p:spPr>
          <a:xfrm>
            <a:off x="8526780" y="1691640"/>
            <a:ext cx="731520" cy="731520"/>
          </a:xfrm>
          <a:prstGeom prst="ellipse">
            <a:avLst/>
          </a:prstGeom>
          <a:solidFill>
            <a:srgbClr val="0E3B4F"/>
          </a:solidFill>
          <a:ln w="12700">
            <a:solidFill>
              <a:srgbClr val="0E3B4F"/>
            </a:solidFill>
            <a:prstDash val="solid"/>
          </a:ln>
        </p:spPr>
      </p:sp>
      <p:pic>
        <p:nvPicPr>
          <p:cNvPr id="28" name="Image 4" descr="preencoded.png">    </p:cNvPr>
          <p:cNvPicPr>
            <a:picLocks noChangeAspect="1"/>
          </p:cNvPicPr>
          <p:nvPr/>
        </p:nvPicPr>
        <p:blipFill>
          <a:blip r:embed="rId5"/>
          <a:stretch>
            <a:fillRect/>
          </a:stretch>
        </p:blipFill>
        <p:spPr>
          <a:xfrm>
            <a:off x="8702345" y="1867205"/>
            <a:ext cx="380390" cy="380390"/>
          </a:xfrm>
          <a:prstGeom prst="rect">
            <a:avLst/>
          </a:prstGeom>
        </p:spPr>
      </p:pic>
      <p:sp>
        <p:nvSpPr>
          <p:cNvPr id="29" name="Text 22"/>
          <p:cNvSpPr txBox="1"/>
          <p:nvPr/>
        </p:nvSpPr>
        <p:spPr>
          <a:xfrm>
            <a:off x="804672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第5章</a:t>
            </a:r>
            <a:endParaRPr lang="ja-JP" sz="1800" dirty="0"/>
          </a:p>
        </p:txBody>
      </p:sp>
      <p:sp>
        <p:nvSpPr>
          <p:cNvPr id="30" name="Text 23"/>
          <p:cNvSpPr txBox="1"/>
          <p:nvPr/>
        </p:nvSpPr>
        <p:spPr>
          <a:xfrm>
            <a:off x="809244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漁獲モデル</a:t>
            </a:r>
            <a:endParaRPr lang="ja-JP" sz="1700" dirty="0"/>
          </a:p>
        </p:txBody>
      </p:sp>
      <p:sp>
        <p:nvSpPr>
          <p:cNvPr id="31" name="Shape 24"/>
          <p:cNvSpPr/>
          <p:nvPr/>
        </p:nvSpPr>
        <p:spPr>
          <a:xfrm>
            <a:off x="9921240" y="1463040"/>
            <a:ext cx="1691640" cy="2834640"/>
          </a:xfrm>
          <a:prstGeom prst="roundRect">
            <a:avLst>
              <a:gd name="adj" fmla="val 6486"/>
            </a:avLst>
          </a:prstGeom>
          <a:solidFill>
            <a:srgbClr val="E3F4F1"/>
          </a:solidFill>
          <a:ln w="12700">
            <a:solidFill>
              <a:srgbClr val="E3F4F1"/>
            </a:solidFill>
            <a:prstDash val="solid"/>
          </a:ln>
        </p:spPr>
      </p:sp>
      <p:sp>
        <p:nvSpPr>
          <p:cNvPr id="32" name="Shape 25"/>
          <p:cNvSpPr/>
          <p:nvPr/>
        </p:nvSpPr>
        <p:spPr>
          <a:xfrm>
            <a:off x="10401300" y="1691640"/>
            <a:ext cx="731520" cy="731520"/>
          </a:xfrm>
          <a:prstGeom prst="ellipse">
            <a:avLst/>
          </a:prstGeom>
          <a:solidFill>
            <a:srgbClr val="1A8F8A"/>
          </a:solidFill>
          <a:ln w="12700">
            <a:solidFill>
              <a:srgbClr val="1A8F8A"/>
            </a:solidFill>
            <a:prstDash val="solid"/>
          </a:ln>
        </p:spPr>
      </p:sp>
      <p:pic>
        <p:nvPicPr>
          <p:cNvPr id="33" name="Image 5" descr="preencoded.png">    </p:cNvPr>
          <p:cNvPicPr>
            <a:picLocks noChangeAspect="1"/>
          </p:cNvPicPr>
          <p:nvPr/>
        </p:nvPicPr>
        <p:blipFill>
          <a:blip r:embed="rId6"/>
          <a:stretch>
            <a:fillRect/>
          </a:stretch>
        </p:blipFill>
        <p:spPr>
          <a:xfrm>
            <a:off x="10576865" y="1867205"/>
            <a:ext cx="380390" cy="380390"/>
          </a:xfrm>
          <a:prstGeom prst="rect">
            <a:avLst/>
          </a:prstGeom>
        </p:spPr>
      </p:pic>
      <p:sp>
        <p:nvSpPr>
          <p:cNvPr id="34" name="Text 26"/>
          <p:cNvSpPr txBox="1"/>
          <p:nvPr/>
        </p:nvSpPr>
        <p:spPr>
          <a:xfrm>
            <a:off x="99212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第6章</a:t>
            </a:r>
            <a:endParaRPr lang="ja-JP" sz="1800" dirty="0"/>
          </a:p>
        </p:txBody>
      </p:sp>
      <p:sp>
        <p:nvSpPr>
          <p:cNvPr id="35" name="Text 27"/>
          <p:cNvSpPr txBox="1"/>
          <p:nvPr/>
        </p:nvSpPr>
        <p:spPr>
          <a:xfrm>
            <a:off x="99669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水産資源管理</a:t>
            </a:r>
            <a:endParaRPr lang="ja-JP" sz="1700" dirty="0"/>
          </a:p>
        </p:txBody>
      </p:sp>
      <p:sp>
        <p:nvSpPr>
          <p:cNvPr id="36" name="Shape 28"/>
          <p:cNvSpPr/>
          <p:nvPr/>
        </p:nvSpPr>
        <p:spPr>
          <a:xfrm>
            <a:off x="548640" y="4572000"/>
            <a:ext cx="3566160" cy="1463040"/>
          </a:xfrm>
          <a:prstGeom prst="roundRect">
            <a:avLst>
              <a:gd name="adj" fmla="val 7500"/>
            </a:avLst>
          </a:prstGeom>
          <a:solidFill>
            <a:srgbClr val="FFE8E1"/>
          </a:solidFill>
          <a:ln w="12700">
            <a:solidFill>
              <a:srgbClr val="FFE8E1"/>
            </a:solidFill>
            <a:prstDash val="solid"/>
          </a:ln>
        </p:spPr>
      </p:sp>
      <p:sp>
        <p:nvSpPr>
          <p:cNvPr id="37" name="Text 29"/>
          <p:cNvSpPr txBox="1"/>
          <p:nvPr/>
        </p:nvSpPr>
        <p:spPr>
          <a:xfrm>
            <a:off x="82296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プレ試験</a:t>
            </a:r>
            <a:endParaRPr lang="ja-JP" sz="2000" dirty="0"/>
          </a:p>
        </p:txBody>
      </p:sp>
      <p:sp>
        <p:nvSpPr>
          <p:cNvPr id="38" name="Text 30"/>
          <p:cNvSpPr txBox="1"/>
          <p:nvPr/>
        </p:nvSpPr>
        <p:spPr>
          <a:xfrm>
            <a:off x="82296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11月13日（金）</a:t>
            </a:r>
            <a:endParaRPr lang="ja-JP" sz="1500" dirty="0"/>
          </a:p>
        </p:txBody>
      </p:sp>
      <p:sp>
        <p:nvSpPr>
          <p:cNvPr id="39" name="Shape 31"/>
          <p:cNvSpPr/>
          <p:nvPr/>
        </p:nvSpPr>
        <p:spPr>
          <a:xfrm>
            <a:off x="4297680" y="4572000"/>
            <a:ext cx="3566160" cy="1463040"/>
          </a:xfrm>
          <a:prstGeom prst="roundRect">
            <a:avLst>
              <a:gd name="adj" fmla="val 7500"/>
            </a:avLst>
          </a:prstGeom>
          <a:solidFill>
            <a:srgbClr val="FFE8E1"/>
          </a:solidFill>
          <a:ln w="12700">
            <a:solidFill>
              <a:srgbClr val="FFE8E1"/>
            </a:solidFill>
            <a:prstDash val="solid"/>
          </a:ln>
        </p:spPr>
      </p:sp>
      <p:sp>
        <p:nvSpPr>
          <p:cNvPr id="40" name="Text 32"/>
          <p:cNvSpPr txBox="1"/>
          <p:nvPr/>
        </p:nvSpPr>
        <p:spPr>
          <a:xfrm>
            <a:off x="457200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本試験</a:t>
            </a:r>
            <a:endParaRPr lang="ja-JP" sz="2000" dirty="0"/>
          </a:p>
        </p:txBody>
      </p:sp>
      <p:sp>
        <p:nvSpPr>
          <p:cNvPr id="41" name="Text 33"/>
          <p:cNvSpPr txBox="1"/>
          <p:nvPr/>
        </p:nvSpPr>
        <p:spPr>
          <a:xfrm>
            <a:off x="457200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11月20日（金）</a:t>
            </a:r>
            <a:endParaRPr lang="ja-JP" sz="1500" dirty="0"/>
          </a:p>
        </p:txBody>
      </p:sp>
      <p:sp>
        <p:nvSpPr>
          <p:cNvPr id="42" name="Shape 34"/>
          <p:cNvSpPr/>
          <p:nvPr/>
        </p:nvSpPr>
        <p:spPr>
          <a:xfrm>
            <a:off x="8046720" y="4572000"/>
            <a:ext cx="3566160" cy="1463040"/>
          </a:xfrm>
          <a:prstGeom prst="roundRect">
            <a:avLst>
              <a:gd name="adj" fmla="val 7500"/>
            </a:avLst>
          </a:prstGeom>
          <a:solidFill>
            <a:srgbClr val="E3F4F1"/>
          </a:solidFill>
          <a:ln w="12700">
            <a:solidFill>
              <a:srgbClr val="E3F4F1"/>
            </a:solidFill>
            <a:prstDash val="solid"/>
          </a:ln>
        </p:spPr>
      </p:sp>
      <p:sp>
        <p:nvSpPr>
          <p:cNvPr id="43" name="Text 35"/>
          <p:cNvSpPr txBox="1"/>
          <p:nvPr/>
        </p:nvSpPr>
        <p:spPr>
          <a:xfrm>
            <a:off x="8321040" y="4709160"/>
            <a:ext cx="3108960" cy="54864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鯨類資源について</a:t>
            </a:r>
            <a:endParaRPr lang="ja-JP" sz="2000" dirty="0"/>
          </a:p>
        </p:txBody>
      </p:sp>
      <p:sp>
        <p:nvSpPr>
          <p:cNvPr id="44" name="Text 36"/>
          <p:cNvSpPr txBox="1"/>
          <p:nvPr/>
        </p:nvSpPr>
        <p:spPr>
          <a:xfrm>
            <a:off x="832104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11月24日（火）松田純佳</a:t>
            </a:r>
            <a:endParaRPr lang="ja-JP"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授業計画</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出典：2026年度 水産資源学授業計画（2026/10/2版）</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9</a:t>
            </a:r>
            <a:endParaRPr lang="ja-JP"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548640"/>
                <a:gridCol w="1645920"/>
                <a:gridCol w="3931920"/>
                <a:gridCol w="1463040"/>
              </a:tblGrid>
              <a:tr h="278892">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回</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日</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内容</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実施形態</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2日（金）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ガイダンス・はじめに／第1章 水産資源の現状1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6日（火）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第1章 水産資源の現状2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9日（金）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第2章 水産資源とは</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10月13日（火）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資源動態3</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7</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8</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9</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10月30日（金）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10</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 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第6章 水産資源管理</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プレ試験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1A8F8A"/>
                          </a:solidFill>
                          <a:latin typeface="BIZ UDPGothic" pitchFamily="34" charset="0"/>
                          <a:ea typeface="BIZ UDPGothic" pitchFamily="34" charset="-122"/>
                          <a:cs typeface="BIZ UDPGothic" pitchFamily="34" charset="-120"/>
                        </a:rPr>
                        <a:t>各自</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11月24日（火）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鯨類資源について（松田純佳）</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12月 1日（火）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1A8F8A"/>
                          </a:solidFill>
                          <a:latin typeface="BIZ UDPGothic" pitchFamily="34" charset="0"/>
                          <a:ea typeface="BIZ UDPGothic" pitchFamily="34" charset="-122"/>
                          <a:cs typeface="BIZ UDPGothic" pitchFamily="34" charset="-120"/>
                        </a:rPr>
                        <a:t>各自</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
        <p:nvSpPr>
          <p:cNvPr id="7" name="Shape 4"/>
          <p:cNvSpPr/>
          <p:nvPr/>
        </p:nvSpPr>
        <p:spPr>
          <a:xfrm>
            <a:off x="8412480" y="1325880"/>
            <a:ext cx="3200400" cy="1417320"/>
          </a:xfrm>
          <a:prstGeom prst="roundRect">
            <a:avLst>
              <a:gd name="adj" fmla="val 7742"/>
            </a:avLst>
          </a:prstGeom>
          <a:solidFill>
            <a:srgbClr val="E3F4F1"/>
          </a:solidFill>
          <a:ln w="12700">
            <a:solidFill>
              <a:srgbClr val="E3F4F1"/>
            </a:solidFill>
            <a:prstDash val="solid"/>
          </a:ln>
        </p:spPr>
      </p:sp>
      <p:sp>
        <p:nvSpPr>
          <p:cNvPr id="8" name="Shape 5"/>
          <p:cNvSpPr/>
          <p:nvPr/>
        </p:nvSpPr>
        <p:spPr>
          <a:xfrm>
            <a:off x="8549640" y="1463040"/>
            <a:ext cx="548640" cy="548640"/>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681314" y="1594714"/>
            <a:ext cx="285293" cy="285293"/>
          </a:xfrm>
          <a:prstGeom prst="rect">
            <a:avLst/>
          </a:prstGeom>
        </p:spPr>
      </p:pic>
      <p:sp>
        <p:nvSpPr>
          <p:cNvPr id="10" name="Text 6"/>
          <p:cNvSpPr txBox="1"/>
          <p:nvPr/>
        </p:nvSpPr>
        <p:spPr>
          <a:xfrm>
            <a:off x="9235440" y="1463040"/>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時間</a:t>
            </a:r>
            <a:endParaRPr lang="ja-JP" sz="1600" dirty="0"/>
          </a:p>
        </p:txBody>
      </p:sp>
      <p:sp>
        <p:nvSpPr>
          <p:cNvPr id="11" name="Text 7"/>
          <p:cNvSpPr txBox="1"/>
          <p:nvPr/>
        </p:nvSpPr>
        <p:spPr>
          <a:xfrm>
            <a:off x="8595360" y="2057400"/>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火曜1時限（8:45〜10:15）</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金曜2時限（10:30〜12:00）</a:t>
            </a:r>
            <a:endParaRPr lang="ja-JP" sz="1300" dirty="0"/>
          </a:p>
        </p:txBody>
      </p:sp>
      <p:sp>
        <p:nvSpPr>
          <p:cNvPr id="12" name="Shape 8"/>
          <p:cNvSpPr/>
          <p:nvPr/>
        </p:nvSpPr>
        <p:spPr>
          <a:xfrm>
            <a:off x="8412480" y="2898648"/>
            <a:ext cx="3200400" cy="1417320"/>
          </a:xfrm>
          <a:prstGeom prst="roundRect">
            <a:avLst>
              <a:gd name="adj" fmla="val 7742"/>
            </a:avLst>
          </a:prstGeom>
          <a:solidFill>
            <a:srgbClr val="E3F4F1"/>
          </a:solidFill>
          <a:ln w="12700">
            <a:solidFill>
              <a:srgbClr val="E3F4F1"/>
            </a:solidFill>
            <a:prstDash val="solid"/>
          </a:ln>
        </p:spPr>
      </p:sp>
      <p:sp>
        <p:nvSpPr>
          <p:cNvPr id="13" name="Shape 9"/>
          <p:cNvSpPr/>
          <p:nvPr/>
        </p:nvSpPr>
        <p:spPr>
          <a:xfrm>
            <a:off x="8549640" y="3035808"/>
            <a:ext cx="548640" cy="548640"/>
          </a:xfrm>
          <a:prstGeom prst="ellipse">
            <a:avLst/>
          </a:prstGeom>
          <a:solidFill>
            <a:srgbClr val="1A8F8A"/>
          </a:solidFill>
          <a:ln w="12700">
            <a:solidFill>
              <a:srgbClr val="1A8F8A"/>
            </a:solidFill>
            <a:prstDash val="solid"/>
          </a:ln>
        </p:spPr>
      </p:sp>
      <p:pic>
        <p:nvPicPr>
          <p:cNvPr id="14" name="Image 1" descr="preencoded.png">    </p:cNvPr>
          <p:cNvPicPr>
            <a:picLocks noChangeAspect="1"/>
          </p:cNvPicPr>
          <p:nvPr/>
        </p:nvPicPr>
        <p:blipFill>
          <a:blip r:embed="rId2"/>
          <a:stretch>
            <a:fillRect/>
          </a:stretch>
        </p:blipFill>
        <p:spPr>
          <a:xfrm>
            <a:off x="8681314" y="3167482"/>
            <a:ext cx="285293" cy="285293"/>
          </a:xfrm>
          <a:prstGeom prst="rect">
            <a:avLst/>
          </a:prstGeom>
        </p:spPr>
      </p:pic>
      <p:sp>
        <p:nvSpPr>
          <p:cNvPr id="15" name="Text 10"/>
          <p:cNvSpPr txBox="1"/>
          <p:nvPr/>
        </p:nvSpPr>
        <p:spPr>
          <a:xfrm>
            <a:off x="9235440" y="3035808"/>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教室・単位</a:t>
            </a:r>
            <a:endParaRPr lang="ja-JP" sz="1600" dirty="0"/>
          </a:p>
        </p:txBody>
      </p:sp>
      <p:sp>
        <p:nvSpPr>
          <p:cNvPr id="16" name="Text 11"/>
          <p:cNvSpPr txBox="1"/>
          <p:nvPr/>
        </p:nvSpPr>
        <p:spPr>
          <a:xfrm>
            <a:off x="8595360" y="3630168"/>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大講義室　選択必修2単位</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3年次 秋ターム</a:t>
            </a:r>
            <a:endParaRPr lang="ja-JP" sz="1300" dirty="0"/>
          </a:p>
        </p:txBody>
      </p:sp>
      <p:sp>
        <p:nvSpPr>
          <p:cNvPr id="17" name="Shape 12"/>
          <p:cNvSpPr/>
          <p:nvPr/>
        </p:nvSpPr>
        <p:spPr>
          <a:xfrm>
            <a:off x="8412480" y="4471416"/>
            <a:ext cx="3200400" cy="1417320"/>
          </a:xfrm>
          <a:prstGeom prst="roundRect">
            <a:avLst>
              <a:gd name="adj" fmla="val 7742"/>
            </a:avLst>
          </a:prstGeom>
          <a:solidFill>
            <a:srgbClr val="E3F4F1"/>
          </a:solidFill>
          <a:ln w="12700">
            <a:solidFill>
              <a:srgbClr val="E3F4F1"/>
            </a:solidFill>
            <a:prstDash val="solid"/>
          </a:ln>
        </p:spPr>
      </p:sp>
      <p:sp>
        <p:nvSpPr>
          <p:cNvPr id="18" name="Shape 13"/>
          <p:cNvSpPr/>
          <p:nvPr/>
        </p:nvSpPr>
        <p:spPr>
          <a:xfrm>
            <a:off x="8549640" y="4608576"/>
            <a:ext cx="548640" cy="548640"/>
          </a:xfrm>
          <a:prstGeom prst="ellipse">
            <a:avLst/>
          </a:prstGeom>
          <a:solidFill>
            <a:srgbClr val="0E3B4F"/>
          </a:solidFill>
          <a:ln w="12700">
            <a:solidFill>
              <a:srgbClr val="0E3B4F"/>
            </a:solidFill>
            <a:prstDash val="solid"/>
          </a:ln>
        </p:spPr>
      </p:sp>
      <p:pic>
        <p:nvPicPr>
          <p:cNvPr id="19" name="Image 2" descr="preencoded.png">    </p:cNvPr>
          <p:cNvPicPr>
            <a:picLocks noChangeAspect="1"/>
          </p:cNvPicPr>
          <p:nvPr/>
        </p:nvPicPr>
        <p:blipFill>
          <a:blip r:embed="rId3"/>
          <a:stretch>
            <a:fillRect/>
          </a:stretch>
        </p:blipFill>
        <p:spPr>
          <a:xfrm>
            <a:off x="8681314" y="4740250"/>
            <a:ext cx="285293" cy="285293"/>
          </a:xfrm>
          <a:prstGeom prst="rect">
            <a:avLst/>
          </a:prstGeom>
        </p:spPr>
      </p:pic>
      <p:sp>
        <p:nvSpPr>
          <p:cNvPr id="20" name="Text 14"/>
          <p:cNvSpPr txBox="1"/>
          <p:nvPr/>
        </p:nvSpPr>
        <p:spPr>
          <a:xfrm>
            <a:off x="9235440" y="4608576"/>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連絡先</a:t>
            </a:r>
            <a:endParaRPr lang="ja-JP" sz="1600" dirty="0"/>
          </a:p>
        </p:txBody>
      </p:sp>
      <p:sp>
        <p:nvSpPr>
          <p:cNvPr id="21" name="Text 15"/>
          <p:cNvSpPr txBox="1"/>
          <p:nvPr/>
        </p:nvSpPr>
        <p:spPr>
          <a:xfrm>
            <a:off x="8595360" y="5202936"/>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本館318号室</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https://bit.ly/2fritz</a:t>
            </a:r>
            <a:endParaRPr lang="ja-JP"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授業のやりかた</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10</a:t>
            </a:r>
            <a:endParaRPr lang="ja-JP" sz="1000" dirty="0"/>
          </a:p>
        </p:txBody>
      </p:sp>
      <p:sp>
        <p:nvSpPr>
          <p:cNvPr id="5" name="Shape 3"/>
          <p:cNvSpPr/>
          <p:nvPr/>
        </p:nvSpPr>
        <p:spPr>
          <a:xfrm>
            <a:off x="548640" y="1463040"/>
            <a:ext cx="685800" cy="685800"/>
          </a:xfrm>
          <a:prstGeom prst="ellipse">
            <a:avLst/>
          </a:prstGeom>
          <a:solidFill>
            <a:srgbClr val="0E3B4F"/>
          </a:solidFill>
          <a:ln w="12700">
            <a:solidFill>
              <a:srgbClr val="0E3B4F"/>
            </a:solidFill>
            <a:prstDash val="solid"/>
          </a:ln>
        </p:spPr>
      </p:sp>
      <p:pic>
        <p:nvPicPr>
          <p:cNvPr id="6" name="Image 0" descr="preencoded.png">    </p:cNvPr>
          <p:cNvPicPr>
            <a:picLocks noChangeAspect="1"/>
          </p:cNvPicPr>
          <p:nvPr/>
        </p:nvPicPr>
        <p:blipFill>
          <a:blip r:embed="rId1"/>
          <a:stretch>
            <a:fillRect/>
          </a:stretch>
        </p:blipFill>
        <p:spPr>
          <a:xfrm>
            <a:off x="713232" y="1627632"/>
            <a:ext cx="356616" cy="356616"/>
          </a:xfrm>
          <a:prstGeom prst="rect">
            <a:avLst/>
          </a:prstGeom>
        </p:spPr>
      </p:pic>
      <p:sp>
        <p:nvSpPr>
          <p:cNvPr id="7" name="Text 4"/>
          <p:cNvSpPr txBox="1"/>
          <p:nvPr/>
        </p:nvSpPr>
        <p:spPr>
          <a:xfrm>
            <a:off x="1463040" y="14630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教科書に沿って授業を行う</a:t>
            </a:r>
            <a:endParaRPr lang="ja-JP" sz="1900" dirty="0"/>
          </a:p>
        </p:txBody>
      </p:sp>
      <p:sp>
        <p:nvSpPr>
          <p:cNvPr id="8" name="Shape 5"/>
          <p:cNvSpPr/>
          <p:nvPr/>
        </p:nvSpPr>
        <p:spPr>
          <a:xfrm>
            <a:off x="548640" y="2377440"/>
            <a:ext cx="685800" cy="685800"/>
          </a:xfrm>
          <a:prstGeom prst="ellipse">
            <a:avLst/>
          </a:prstGeom>
          <a:solidFill>
            <a:srgbClr val="1A8F8A"/>
          </a:solidFill>
          <a:ln w="12700">
            <a:solidFill>
              <a:srgbClr val="1A8F8A"/>
            </a:solidFill>
            <a:prstDash val="solid"/>
          </a:ln>
        </p:spPr>
      </p:sp>
      <p:pic>
        <p:nvPicPr>
          <p:cNvPr id="9" name="Image 1" descr="preencoded.png">    </p:cNvPr>
          <p:cNvPicPr>
            <a:picLocks noChangeAspect="1"/>
          </p:cNvPicPr>
          <p:nvPr/>
        </p:nvPicPr>
        <p:blipFill>
          <a:blip r:embed="rId2"/>
          <a:stretch>
            <a:fillRect/>
          </a:stretch>
        </p:blipFill>
        <p:spPr>
          <a:xfrm>
            <a:off x="713232" y="2542032"/>
            <a:ext cx="356616" cy="356616"/>
          </a:xfrm>
          <a:prstGeom prst="rect">
            <a:avLst/>
          </a:prstGeom>
        </p:spPr>
      </p:pic>
      <p:sp>
        <p:nvSpPr>
          <p:cNvPr id="10" name="Text 6"/>
          <p:cNvSpPr txBox="1"/>
          <p:nvPr/>
        </p:nvSpPr>
        <p:spPr>
          <a:xfrm>
            <a:off x="1463040" y="23774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一部，オンデマンドで実施（第3章・第4章）</a:t>
            </a:r>
            <a:endParaRPr lang="ja-JP" sz="1900" dirty="0"/>
          </a:p>
        </p:txBody>
      </p:sp>
      <p:sp>
        <p:nvSpPr>
          <p:cNvPr id="11" name="Shape 7"/>
          <p:cNvSpPr/>
          <p:nvPr/>
        </p:nvSpPr>
        <p:spPr>
          <a:xfrm>
            <a:off x="548640" y="3291840"/>
            <a:ext cx="685800" cy="685800"/>
          </a:xfrm>
          <a:prstGeom prst="ellipse">
            <a:avLst/>
          </a:prstGeom>
          <a:solidFill>
            <a:srgbClr val="0E3B4F"/>
          </a:solidFill>
          <a:ln w="12700">
            <a:solidFill>
              <a:srgbClr val="0E3B4F"/>
            </a:solidFill>
            <a:prstDash val="solid"/>
          </a:ln>
        </p:spPr>
      </p:sp>
      <p:pic>
        <p:nvPicPr>
          <p:cNvPr id="12" name="Image 2" descr="preencoded.png">    </p:cNvPr>
          <p:cNvPicPr>
            <a:picLocks noChangeAspect="1"/>
          </p:cNvPicPr>
          <p:nvPr/>
        </p:nvPicPr>
        <p:blipFill>
          <a:blip r:embed="rId3"/>
          <a:stretch>
            <a:fillRect/>
          </a:stretch>
        </p:blipFill>
        <p:spPr>
          <a:xfrm>
            <a:off x="713232" y="3456432"/>
            <a:ext cx="356616" cy="356616"/>
          </a:xfrm>
          <a:prstGeom prst="rect">
            <a:avLst/>
          </a:prstGeom>
        </p:spPr>
      </p:pic>
      <p:sp>
        <p:nvSpPr>
          <p:cNvPr id="13" name="Text 8"/>
          <p:cNvSpPr txBox="1"/>
          <p:nvPr/>
        </p:nvSpPr>
        <p:spPr>
          <a:xfrm>
            <a:off x="1463040" y="32918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資料等は適宜 Moodle にアップロードする</a:t>
            </a:r>
            <a:endParaRPr lang="ja-JP" sz="1900" dirty="0"/>
          </a:p>
        </p:txBody>
      </p:sp>
      <p:sp>
        <p:nvSpPr>
          <p:cNvPr id="14" name="Shape 9"/>
          <p:cNvSpPr/>
          <p:nvPr/>
        </p:nvSpPr>
        <p:spPr>
          <a:xfrm>
            <a:off x="548640" y="4206240"/>
            <a:ext cx="685800" cy="685800"/>
          </a:xfrm>
          <a:prstGeom prst="ellipse">
            <a:avLst/>
          </a:prstGeom>
          <a:solidFill>
            <a:srgbClr val="1A8F8A"/>
          </a:solidFill>
          <a:ln w="12700">
            <a:solidFill>
              <a:srgbClr val="1A8F8A"/>
            </a:solidFill>
            <a:prstDash val="solid"/>
          </a:ln>
        </p:spPr>
      </p:sp>
      <p:pic>
        <p:nvPicPr>
          <p:cNvPr id="15" name="Image 3" descr="preencoded.png">    </p:cNvPr>
          <p:cNvPicPr>
            <a:picLocks noChangeAspect="1"/>
          </p:cNvPicPr>
          <p:nvPr/>
        </p:nvPicPr>
        <p:blipFill>
          <a:blip r:embed="rId4"/>
          <a:stretch>
            <a:fillRect/>
          </a:stretch>
        </p:blipFill>
        <p:spPr>
          <a:xfrm>
            <a:off x="713232" y="4370832"/>
            <a:ext cx="356616" cy="356616"/>
          </a:xfrm>
          <a:prstGeom prst="rect">
            <a:avLst/>
          </a:prstGeom>
        </p:spPr>
      </p:pic>
      <p:sp>
        <p:nvSpPr>
          <p:cNvPr id="16" name="Text 10"/>
          <p:cNvSpPr txBox="1"/>
          <p:nvPr/>
        </p:nvSpPr>
        <p:spPr>
          <a:xfrm>
            <a:off x="1463040" y="42062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適宜，小テストを実施</a:t>
            </a:r>
            <a:endParaRPr lang="ja-JP" sz="1900" dirty="0"/>
          </a:p>
        </p:txBody>
      </p:sp>
      <p:sp>
        <p:nvSpPr>
          <p:cNvPr id="17" name="Shape 11"/>
          <p:cNvSpPr/>
          <p:nvPr/>
        </p:nvSpPr>
        <p:spPr>
          <a:xfrm>
            <a:off x="548640" y="5120640"/>
            <a:ext cx="685800" cy="685800"/>
          </a:xfrm>
          <a:prstGeom prst="ellipse">
            <a:avLst/>
          </a:prstGeom>
          <a:solidFill>
            <a:srgbClr val="0E3B4F"/>
          </a:solidFill>
          <a:ln w="12700">
            <a:solidFill>
              <a:srgbClr val="0E3B4F"/>
            </a:solidFill>
            <a:prstDash val="solid"/>
          </a:ln>
        </p:spPr>
      </p:sp>
      <p:pic>
        <p:nvPicPr>
          <p:cNvPr id="18" name="Image 4" descr="preencoded.png">    </p:cNvPr>
          <p:cNvPicPr>
            <a:picLocks noChangeAspect="1"/>
          </p:cNvPicPr>
          <p:nvPr/>
        </p:nvPicPr>
        <p:blipFill>
          <a:blip r:embed="rId5"/>
          <a:stretch>
            <a:fillRect/>
          </a:stretch>
        </p:blipFill>
        <p:spPr>
          <a:xfrm>
            <a:off x="713232" y="5285232"/>
            <a:ext cx="356616" cy="356616"/>
          </a:xfrm>
          <a:prstGeom prst="rect">
            <a:avLst/>
          </a:prstGeom>
        </p:spPr>
      </p:pic>
      <p:sp>
        <p:nvSpPr>
          <p:cNvPr id="19" name="Text 12"/>
          <p:cNvSpPr txBox="1"/>
          <p:nvPr/>
        </p:nvSpPr>
        <p:spPr>
          <a:xfrm>
            <a:off x="1463040" y="51206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欠席届不要。公欠等の対応は行わない</a:t>
            </a:r>
            <a:endParaRPr lang="ja-JP" sz="1900" dirty="0"/>
          </a:p>
        </p:txBody>
      </p:sp>
      <p:sp>
        <p:nvSpPr>
          <p:cNvPr id="20" name="Shape 13"/>
          <p:cNvSpPr/>
          <p:nvPr/>
        </p:nvSpPr>
        <p:spPr>
          <a:xfrm>
            <a:off x="7498080" y="1463040"/>
            <a:ext cx="4114800" cy="4434840"/>
          </a:xfrm>
          <a:prstGeom prst="roundRect">
            <a:avLst>
              <a:gd name="adj" fmla="val 2667"/>
            </a:avLst>
          </a:prstGeom>
          <a:solidFill>
            <a:srgbClr val="0E3B4F"/>
          </a:solidFill>
          <a:ln w="12700">
            <a:solidFill>
              <a:srgbClr val="0E3B4F"/>
            </a:solidFill>
            <a:prstDash val="solid"/>
          </a:ln>
        </p:spPr>
      </p:sp>
      <p:sp>
        <p:nvSpPr>
          <p:cNvPr id="21" name="Shape 14"/>
          <p:cNvSpPr/>
          <p:nvPr/>
        </p:nvSpPr>
        <p:spPr>
          <a:xfrm>
            <a:off x="7772400" y="1691640"/>
            <a:ext cx="685800" cy="685800"/>
          </a:xfrm>
          <a:prstGeom prst="ellipse">
            <a:avLst/>
          </a:prstGeom>
          <a:solidFill>
            <a:srgbClr val="FF7A59"/>
          </a:solidFill>
          <a:ln w="12700">
            <a:solidFill>
              <a:srgbClr val="FF7A59"/>
            </a:solidFill>
            <a:prstDash val="solid"/>
          </a:ln>
        </p:spPr>
      </p:sp>
      <p:pic>
        <p:nvPicPr>
          <p:cNvPr id="22" name="Image 5" descr="preencoded.png">    </p:cNvPr>
          <p:cNvPicPr>
            <a:picLocks noChangeAspect="1"/>
          </p:cNvPicPr>
          <p:nvPr/>
        </p:nvPicPr>
        <p:blipFill>
          <a:blip r:embed="rId6"/>
          <a:stretch>
            <a:fillRect/>
          </a:stretch>
        </p:blipFill>
        <p:spPr>
          <a:xfrm>
            <a:off x="7936992" y="1856232"/>
            <a:ext cx="356616" cy="356616"/>
          </a:xfrm>
          <a:prstGeom prst="rect">
            <a:avLst/>
          </a:prstGeom>
        </p:spPr>
      </p:pic>
      <p:sp>
        <p:nvSpPr>
          <p:cNvPr id="23" name="Text 15"/>
          <p:cNvSpPr txBox="1"/>
          <p:nvPr/>
        </p:nvSpPr>
        <p:spPr>
          <a:xfrm>
            <a:off x="8595360" y="1691640"/>
            <a:ext cx="2834640" cy="68580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試験日（対面）</a:t>
            </a:r>
            <a:endParaRPr lang="ja-JP" sz="2000" dirty="0"/>
          </a:p>
        </p:txBody>
      </p:sp>
      <p:sp>
        <p:nvSpPr>
          <p:cNvPr id="24" name="Shape 16"/>
          <p:cNvSpPr/>
          <p:nvPr/>
        </p:nvSpPr>
        <p:spPr>
          <a:xfrm>
            <a:off x="7772400" y="2697480"/>
            <a:ext cx="3566160" cy="1280160"/>
          </a:xfrm>
          <a:prstGeom prst="roundRect">
            <a:avLst>
              <a:gd name="adj" fmla="val 8571"/>
            </a:avLst>
          </a:prstGeom>
          <a:solidFill>
            <a:srgbClr val="1C5670"/>
          </a:solidFill>
          <a:ln w="12700">
            <a:solidFill>
              <a:srgbClr val="1C5670"/>
            </a:solidFill>
            <a:prstDash val="solid"/>
          </a:ln>
        </p:spPr>
      </p:sp>
      <p:sp>
        <p:nvSpPr>
          <p:cNvPr id="25" name="Text 17"/>
          <p:cNvSpPr txBox="1"/>
          <p:nvPr/>
        </p:nvSpPr>
        <p:spPr>
          <a:xfrm>
            <a:off x="8001000" y="283464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プレ試験</a:t>
            </a:r>
            <a:endParaRPr lang="ja-JP" sz="1800" dirty="0"/>
          </a:p>
        </p:txBody>
      </p:sp>
      <p:sp>
        <p:nvSpPr>
          <p:cNvPr id="26" name="Text 18"/>
          <p:cNvSpPr txBox="1"/>
          <p:nvPr/>
        </p:nvSpPr>
        <p:spPr>
          <a:xfrm>
            <a:off x="8001000" y="329184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11月13日（金）2限</a:t>
            </a:r>
            <a:endParaRPr lang="ja-JP" sz="2200" dirty="0"/>
          </a:p>
        </p:txBody>
      </p:sp>
      <p:sp>
        <p:nvSpPr>
          <p:cNvPr id="27" name="Shape 19"/>
          <p:cNvSpPr/>
          <p:nvPr/>
        </p:nvSpPr>
        <p:spPr>
          <a:xfrm>
            <a:off x="7772400" y="4206240"/>
            <a:ext cx="3566160" cy="1280160"/>
          </a:xfrm>
          <a:prstGeom prst="roundRect">
            <a:avLst>
              <a:gd name="adj" fmla="val 8571"/>
            </a:avLst>
          </a:prstGeom>
          <a:solidFill>
            <a:srgbClr val="1C5670"/>
          </a:solidFill>
          <a:ln w="12700">
            <a:solidFill>
              <a:srgbClr val="1C5670"/>
            </a:solidFill>
            <a:prstDash val="solid"/>
          </a:ln>
        </p:spPr>
      </p:sp>
      <p:sp>
        <p:nvSpPr>
          <p:cNvPr id="28" name="Text 20"/>
          <p:cNvSpPr txBox="1"/>
          <p:nvPr/>
        </p:nvSpPr>
        <p:spPr>
          <a:xfrm>
            <a:off x="8001000" y="434340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本試験</a:t>
            </a:r>
            <a:endParaRPr lang="ja-JP" sz="1800" dirty="0"/>
          </a:p>
        </p:txBody>
      </p:sp>
      <p:sp>
        <p:nvSpPr>
          <p:cNvPr id="29" name="Text 21"/>
          <p:cNvSpPr txBox="1"/>
          <p:nvPr/>
        </p:nvSpPr>
        <p:spPr>
          <a:xfrm>
            <a:off x="8001000" y="480060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11月20日（金）2限</a:t>
            </a:r>
            <a:endParaRPr lang="ja-JP"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評価：本試験で決まる</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11</a:t>
            </a:r>
            <a:endParaRPr lang="ja-JP" sz="1000" dirty="0"/>
          </a:p>
        </p:txBody>
      </p:sp>
      <p:sp>
        <p:nvSpPr>
          <p:cNvPr id="5" name="Shape 3"/>
          <p:cNvSpPr/>
          <p:nvPr/>
        </p:nvSpPr>
        <p:spPr>
          <a:xfrm>
            <a:off x="548640" y="1463040"/>
            <a:ext cx="6309360" cy="960120"/>
          </a:xfrm>
          <a:prstGeom prst="roundRect">
            <a:avLst>
              <a:gd name="adj" fmla="val 11429"/>
            </a:avLst>
          </a:prstGeom>
          <a:solidFill>
            <a:srgbClr val="E3F4F1"/>
          </a:solidFill>
          <a:ln w="12700">
            <a:solidFill>
              <a:srgbClr val="E3F4F1"/>
            </a:solidFill>
            <a:prstDash val="solid"/>
          </a:ln>
        </p:spPr>
      </p:sp>
      <p:sp>
        <p:nvSpPr>
          <p:cNvPr id="6" name="Shape 4"/>
          <p:cNvSpPr/>
          <p:nvPr/>
        </p:nvSpPr>
        <p:spPr>
          <a:xfrm>
            <a:off x="731520" y="1618488"/>
            <a:ext cx="640080" cy="64008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885139" y="1772107"/>
            <a:ext cx="332842" cy="332842"/>
          </a:xfrm>
          <a:prstGeom prst="rect">
            <a:avLst/>
          </a:prstGeom>
        </p:spPr>
      </p:pic>
      <p:sp>
        <p:nvSpPr>
          <p:cNvPr id="8" name="Text 5"/>
          <p:cNvSpPr txBox="1"/>
          <p:nvPr/>
        </p:nvSpPr>
        <p:spPr>
          <a:xfrm>
            <a:off x="1554480" y="146304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本試験で評点を決定（指定教科書のみ持ち込み可）</a:t>
            </a:r>
            <a:endParaRPr lang="ja-JP" sz="1600" dirty="0"/>
          </a:p>
        </p:txBody>
      </p:sp>
      <p:sp>
        <p:nvSpPr>
          <p:cNvPr id="9" name="Shape 6"/>
          <p:cNvSpPr/>
          <p:nvPr/>
        </p:nvSpPr>
        <p:spPr>
          <a:xfrm>
            <a:off x="548640" y="2560320"/>
            <a:ext cx="6309360" cy="960120"/>
          </a:xfrm>
          <a:prstGeom prst="roundRect">
            <a:avLst>
              <a:gd name="adj" fmla="val 11429"/>
            </a:avLst>
          </a:prstGeom>
          <a:solidFill>
            <a:srgbClr val="E3F4F1"/>
          </a:solidFill>
          <a:ln w="12700">
            <a:solidFill>
              <a:srgbClr val="E3F4F1"/>
            </a:solidFill>
            <a:prstDash val="solid"/>
          </a:ln>
        </p:spPr>
      </p:sp>
      <p:sp>
        <p:nvSpPr>
          <p:cNvPr id="10" name="Shape 7"/>
          <p:cNvSpPr/>
          <p:nvPr/>
        </p:nvSpPr>
        <p:spPr>
          <a:xfrm>
            <a:off x="731520" y="2715768"/>
            <a:ext cx="640080" cy="640080"/>
          </a:xfrm>
          <a:prstGeom prst="ellipse">
            <a:avLst/>
          </a:prstGeom>
          <a:solidFill>
            <a:srgbClr val="1A8F8A"/>
          </a:solidFill>
          <a:ln w="12700">
            <a:solidFill>
              <a:srgbClr val="1A8F8A"/>
            </a:solidFill>
            <a:prstDash val="solid"/>
          </a:ln>
        </p:spPr>
      </p:sp>
      <p:pic>
        <p:nvPicPr>
          <p:cNvPr id="11" name="Image 1" descr="preencoded.png">    </p:cNvPr>
          <p:cNvPicPr>
            <a:picLocks noChangeAspect="1"/>
          </p:cNvPicPr>
          <p:nvPr/>
        </p:nvPicPr>
        <p:blipFill>
          <a:blip r:embed="rId2"/>
          <a:stretch>
            <a:fillRect/>
          </a:stretch>
        </p:blipFill>
        <p:spPr>
          <a:xfrm>
            <a:off x="885139" y="2869387"/>
            <a:ext cx="332842" cy="332842"/>
          </a:xfrm>
          <a:prstGeom prst="rect">
            <a:avLst/>
          </a:prstGeom>
        </p:spPr>
      </p:pic>
      <p:sp>
        <p:nvSpPr>
          <p:cNvPr id="12" name="Text 8"/>
          <p:cNvSpPr txBox="1"/>
          <p:nvPr/>
        </p:nvSpPr>
        <p:spPr>
          <a:xfrm>
            <a:off x="1554480" y="256032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小テストの提出が50％未満の者は，60点（可）か不可のみ</a:t>
            </a:r>
            <a:endParaRPr lang="ja-JP" sz="1600" dirty="0"/>
          </a:p>
        </p:txBody>
      </p:sp>
      <p:sp>
        <p:nvSpPr>
          <p:cNvPr id="13" name="Shape 9"/>
          <p:cNvSpPr/>
          <p:nvPr/>
        </p:nvSpPr>
        <p:spPr>
          <a:xfrm>
            <a:off x="548640" y="3657600"/>
            <a:ext cx="6309360" cy="960120"/>
          </a:xfrm>
          <a:prstGeom prst="roundRect">
            <a:avLst>
              <a:gd name="adj" fmla="val 11429"/>
            </a:avLst>
          </a:prstGeom>
          <a:solidFill>
            <a:srgbClr val="E3F4F1"/>
          </a:solidFill>
          <a:ln w="12700">
            <a:solidFill>
              <a:srgbClr val="E3F4F1"/>
            </a:solidFill>
            <a:prstDash val="solid"/>
          </a:ln>
        </p:spPr>
      </p:sp>
      <p:sp>
        <p:nvSpPr>
          <p:cNvPr id="14" name="Shape 10"/>
          <p:cNvSpPr/>
          <p:nvPr/>
        </p:nvSpPr>
        <p:spPr>
          <a:xfrm>
            <a:off x="731520" y="3813048"/>
            <a:ext cx="640080" cy="640080"/>
          </a:xfrm>
          <a:prstGeom prst="ellipse">
            <a:avLst/>
          </a:prstGeom>
          <a:solidFill>
            <a:srgbClr val="FF7A59"/>
          </a:solidFill>
          <a:ln w="12700">
            <a:solidFill>
              <a:srgbClr val="FF7A59"/>
            </a:solidFill>
            <a:prstDash val="solid"/>
          </a:ln>
        </p:spPr>
      </p:sp>
      <p:pic>
        <p:nvPicPr>
          <p:cNvPr id="15" name="Image 2" descr="preencoded.png">    </p:cNvPr>
          <p:cNvPicPr>
            <a:picLocks noChangeAspect="1"/>
          </p:cNvPicPr>
          <p:nvPr/>
        </p:nvPicPr>
        <p:blipFill>
          <a:blip r:embed="rId3"/>
          <a:stretch>
            <a:fillRect/>
          </a:stretch>
        </p:blipFill>
        <p:spPr>
          <a:xfrm>
            <a:off x="885139" y="3966667"/>
            <a:ext cx="332842" cy="332842"/>
          </a:xfrm>
          <a:prstGeom prst="rect">
            <a:avLst/>
          </a:prstGeom>
        </p:spPr>
      </p:pic>
      <p:sp>
        <p:nvSpPr>
          <p:cNvPr id="16" name="Text 11"/>
          <p:cNvSpPr txBox="1"/>
          <p:nvPr/>
        </p:nvSpPr>
        <p:spPr>
          <a:xfrm>
            <a:off x="1554480" y="3657600"/>
            <a:ext cx="5120640" cy="960120"/>
          </a:xfrm>
          <a:prstGeom prst="rect">
            <a:avLst/>
          </a:prstGeom>
          <a:noFill/>
          <a:ln/>
        </p:spPr>
        <p:txBody>
          <a:bodyPr wrap="square" lIns="0" tIns="0" rIns="0" bIns="0" rtlCol="0" anchor="ctr"/>
          <a:lstStyle/>
          <a:p>
            <a:pPr indent="0" marL="0">
              <a:buNone/>
            </a:pPr>
            <a:r>
              <a:rPr lang="ja-JP" altLang="en-US" sz="1600" b="1" dirty="0">
                <a:solidFill>
                  <a:srgbClr val="D9573A"/>
                </a:solidFill>
                <a:latin typeface="BIZ UDPGothic" pitchFamily="34" charset="0"/>
                <a:ea typeface="BIZ UDPGothic" pitchFamily="34" charset="-122"/>
                <a:cs typeface="BIZ UDPGothic" pitchFamily="34" charset="-120"/>
              </a:rPr>
              <a:t>プレ試験で合格した者は，本試験の点数にかかわらず不可としない</a:t>
            </a:r>
            <a:endParaRPr lang="ja-JP" sz="1600" dirty="0"/>
          </a:p>
        </p:txBody>
      </p:sp>
      <p:sp>
        <p:nvSpPr>
          <p:cNvPr id="17" name="Shape 12"/>
          <p:cNvSpPr/>
          <p:nvPr/>
        </p:nvSpPr>
        <p:spPr>
          <a:xfrm>
            <a:off x="548640" y="4754880"/>
            <a:ext cx="6309360" cy="960120"/>
          </a:xfrm>
          <a:prstGeom prst="roundRect">
            <a:avLst>
              <a:gd name="adj" fmla="val 11429"/>
            </a:avLst>
          </a:prstGeom>
          <a:solidFill>
            <a:srgbClr val="E3F4F1"/>
          </a:solidFill>
          <a:ln w="12700">
            <a:solidFill>
              <a:srgbClr val="E3F4F1"/>
            </a:solidFill>
            <a:prstDash val="solid"/>
          </a:ln>
        </p:spPr>
      </p:sp>
      <p:sp>
        <p:nvSpPr>
          <p:cNvPr id="18" name="Shape 13"/>
          <p:cNvSpPr/>
          <p:nvPr/>
        </p:nvSpPr>
        <p:spPr>
          <a:xfrm>
            <a:off x="731520" y="4910328"/>
            <a:ext cx="640080" cy="640080"/>
          </a:xfrm>
          <a:prstGeom prst="ellipse">
            <a:avLst/>
          </a:prstGeom>
          <a:solidFill>
            <a:srgbClr val="0E3B4F"/>
          </a:solidFill>
          <a:ln w="12700">
            <a:solidFill>
              <a:srgbClr val="0E3B4F"/>
            </a:solidFill>
            <a:prstDash val="solid"/>
          </a:ln>
        </p:spPr>
      </p:sp>
      <p:pic>
        <p:nvPicPr>
          <p:cNvPr id="19" name="Image 3" descr="preencoded.png">    </p:cNvPr>
          <p:cNvPicPr>
            <a:picLocks noChangeAspect="1"/>
          </p:cNvPicPr>
          <p:nvPr/>
        </p:nvPicPr>
        <p:blipFill>
          <a:blip r:embed="rId4"/>
          <a:stretch>
            <a:fillRect/>
          </a:stretch>
        </p:blipFill>
        <p:spPr>
          <a:xfrm>
            <a:off x="885139" y="5063947"/>
            <a:ext cx="332842" cy="332842"/>
          </a:xfrm>
          <a:prstGeom prst="rect">
            <a:avLst/>
          </a:prstGeom>
        </p:spPr>
      </p:pic>
      <p:sp>
        <p:nvSpPr>
          <p:cNvPr id="20" name="Text 14"/>
          <p:cNvSpPr txBox="1"/>
          <p:nvPr/>
        </p:nvSpPr>
        <p:spPr>
          <a:xfrm>
            <a:off x="1554480" y="475488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再試験・救済措置は一切行わない</a:t>
            </a:r>
            <a:endParaRPr lang="ja-JP" sz="1600" dirty="0"/>
          </a:p>
        </p:txBody>
      </p:sp>
      <p:sp>
        <p:nvSpPr>
          <p:cNvPr id="21" name="Text 15"/>
          <p:cNvSpPr txBox="1"/>
          <p:nvPr/>
        </p:nvSpPr>
        <p:spPr>
          <a:xfrm>
            <a:off x="7315200" y="1371600"/>
            <a:ext cx="429768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評価例</a:t>
            </a:r>
            <a:endParaRPr lang="ja-JP"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0" y="1874520"/>
          <a:ext cx="4297680" cy="914400"/>
        </p:xfrm>
        <a:graphic>
          <a:graphicData uri="http://schemas.openxmlformats.org/drawingml/2006/table">
            <a:tbl>
              <a:tblPr/>
              <a:tblGrid>
                <a:gridCol w="1463040"/>
                <a:gridCol w="1463040"/>
                <a:gridCol w="1371600"/>
              </a:tblGrid>
              <a:tr h="566928">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プレ試験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評価</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オススメの勉強法</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12</a:t>
            </a:r>
            <a:endParaRPr lang="ja-JP" sz="1000" dirty="0"/>
          </a:p>
        </p:txBody>
      </p:sp>
      <p:sp>
        <p:nvSpPr>
          <p:cNvPr id="5" name="Shape 3"/>
          <p:cNvSpPr/>
          <p:nvPr/>
        </p:nvSpPr>
        <p:spPr>
          <a:xfrm>
            <a:off x="548640" y="1463040"/>
            <a:ext cx="3566160" cy="2103120"/>
          </a:xfrm>
          <a:prstGeom prst="roundRect">
            <a:avLst>
              <a:gd name="adj" fmla="val 5217"/>
            </a:avLst>
          </a:prstGeom>
          <a:solidFill>
            <a:srgbClr val="E3F4F1"/>
          </a:solidFill>
          <a:ln w="12700">
            <a:solidFill>
              <a:srgbClr val="E3F4F1"/>
            </a:solidFill>
            <a:prstDash val="solid"/>
          </a:ln>
        </p:spPr>
      </p:sp>
      <p:sp>
        <p:nvSpPr>
          <p:cNvPr id="6" name="Shape 4"/>
          <p:cNvSpPr/>
          <p:nvPr/>
        </p:nvSpPr>
        <p:spPr>
          <a:xfrm>
            <a:off x="822960" y="1737360"/>
            <a:ext cx="685800" cy="68580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8" name="Text 5"/>
          <p:cNvSpPr txBox="1"/>
          <p:nvPr/>
        </p:nvSpPr>
        <p:spPr>
          <a:xfrm>
            <a:off x="338328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1</a:t>
            </a:r>
            <a:endParaRPr lang="ja-JP" sz="2600" dirty="0"/>
          </a:p>
        </p:txBody>
      </p:sp>
      <p:sp>
        <p:nvSpPr>
          <p:cNvPr id="9" name="Text 6"/>
          <p:cNvSpPr txBox="1"/>
          <p:nvPr/>
        </p:nvSpPr>
        <p:spPr>
          <a:xfrm>
            <a:off x="82296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少し早く教室に来て，前回の範囲，今回の範囲を眺める</a:t>
            </a:r>
            <a:endParaRPr lang="ja-JP" sz="1700" dirty="0"/>
          </a:p>
        </p:txBody>
      </p:sp>
      <p:sp>
        <p:nvSpPr>
          <p:cNvPr id="10" name="Shape 7"/>
          <p:cNvSpPr/>
          <p:nvPr/>
        </p:nvSpPr>
        <p:spPr>
          <a:xfrm>
            <a:off x="4297680" y="1463040"/>
            <a:ext cx="3566160" cy="2103120"/>
          </a:xfrm>
          <a:prstGeom prst="roundRect">
            <a:avLst>
              <a:gd name="adj" fmla="val 5217"/>
            </a:avLst>
          </a:prstGeom>
          <a:solidFill>
            <a:srgbClr val="E3F4F1"/>
          </a:solidFill>
          <a:ln w="12700">
            <a:solidFill>
              <a:srgbClr val="E3F4F1"/>
            </a:solidFill>
            <a:prstDash val="solid"/>
          </a:ln>
        </p:spPr>
      </p:sp>
      <p:sp>
        <p:nvSpPr>
          <p:cNvPr id="11" name="Shape 8"/>
          <p:cNvSpPr/>
          <p:nvPr/>
        </p:nvSpPr>
        <p:spPr>
          <a:xfrm>
            <a:off x="4572000" y="1737360"/>
            <a:ext cx="685800" cy="685800"/>
          </a:xfrm>
          <a:prstGeom prst="ellipse">
            <a:avLst/>
          </a:prstGeom>
          <a:solidFill>
            <a:srgbClr val="1A8F8A"/>
          </a:solidFill>
          <a:ln w="12700">
            <a:solidFill>
              <a:srgbClr val="1A8F8A"/>
            </a:solidFill>
            <a:prstDash val="solid"/>
          </a:ln>
        </p:spPr>
      </p:sp>
      <p:pic>
        <p:nvPicPr>
          <p:cNvPr id="12" name="Image 1" descr="preencoded.png">    </p:cNvPr>
          <p:cNvPicPr>
            <a:picLocks noChangeAspect="1"/>
          </p:cNvPicPr>
          <p:nvPr/>
        </p:nvPicPr>
        <p:blipFill>
          <a:blip r:embed="rId2"/>
          <a:stretch>
            <a:fillRect/>
          </a:stretch>
        </p:blipFill>
        <p:spPr>
          <a:xfrm>
            <a:off x="4736592" y="1901952"/>
            <a:ext cx="356616" cy="356616"/>
          </a:xfrm>
          <a:prstGeom prst="rect">
            <a:avLst/>
          </a:prstGeom>
        </p:spPr>
      </p:pic>
      <p:sp>
        <p:nvSpPr>
          <p:cNvPr id="13" name="Text 9"/>
          <p:cNvSpPr txBox="1"/>
          <p:nvPr/>
        </p:nvSpPr>
        <p:spPr>
          <a:xfrm>
            <a:off x="713232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2</a:t>
            </a:r>
            <a:endParaRPr lang="ja-JP" sz="2600" dirty="0"/>
          </a:p>
        </p:txBody>
      </p:sp>
      <p:sp>
        <p:nvSpPr>
          <p:cNvPr id="14" name="Text 10"/>
          <p:cNvSpPr txBox="1"/>
          <p:nvPr/>
        </p:nvSpPr>
        <p:spPr>
          <a:xfrm>
            <a:off x="457200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授業中のノート書きは最低限（メモ程度）</a:t>
            </a:r>
            <a:endParaRPr lang="ja-JP" sz="1700" dirty="0"/>
          </a:p>
        </p:txBody>
      </p:sp>
      <p:sp>
        <p:nvSpPr>
          <p:cNvPr id="15" name="Shape 11"/>
          <p:cNvSpPr/>
          <p:nvPr/>
        </p:nvSpPr>
        <p:spPr>
          <a:xfrm>
            <a:off x="8046720" y="1463040"/>
            <a:ext cx="3566160" cy="2103120"/>
          </a:xfrm>
          <a:prstGeom prst="roundRect">
            <a:avLst>
              <a:gd name="adj" fmla="val 5217"/>
            </a:avLst>
          </a:prstGeom>
          <a:solidFill>
            <a:srgbClr val="E3F4F1"/>
          </a:solidFill>
          <a:ln w="12700">
            <a:solidFill>
              <a:srgbClr val="E3F4F1"/>
            </a:solidFill>
            <a:prstDash val="solid"/>
          </a:ln>
        </p:spPr>
      </p:sp>
      <p:sp>
        <p:nvSpPr>
          <p:cNvPr id="16" name="Shape 12"/>
          <p:cNvSpPr/>
          <p:nvPr/>
        </p:nvSpPr>
        <p:spPr>
          <a:xfrm>
            <a:off x="8321040" y="1737360"/>
            <a:ext cx="685800" cy="685800"/>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485632" y="1901952"/>
            <a:ext cx="356616" cy="356616"/>
          </a:xfrm>
          <a:prstGeom prst="rect">
            <a:avLst/>
          </a:prstGeom>
        </p:spPr>
      </p:pic>
      <p:sp>
        <p:nvSpPr>
          <p:cNvPr id="18" name="Text 13"/>
          <p:cNvSpPr txBox="1"/>
          <p:nvPr/>
        </p:nvSpPr>
        <p:spPr>
          <a:xfrm>
            <a:off x="1088136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3</a:t>
            </a:r>
            <a:endParaRPr lang="ja-JP" sz="2600" dirty="0"/>
          </a:p>
        </p:txBody>
      </p:sp>
      <p:sp>
        <p:nvSpPr>
          <p:cNvPr id="19" name="Text 14"/>
          <p:cNvSpPr txBox="1"/>
          <p:nvPr/>
        </p:nvSpPr>
        <p:spPr>
          <a:xfrm>
            <a:off x="832104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教科書に書き込む，マーカーを引く</a:t>
            </a:r>
            <a:endParaRPr lang="ja-JP" sz="1700" dirty="0"/>
          </a:p>
        </p:txBody>
      </p:sp>
      <p:sp>
        <p:nvSpPr>
          <p:cNvPr id="20" name="Shape 15"/>
          <p:cNvSpPr/>
          <p:nvPr/>
        </p:nvSpPr>
        <p:spPr>
          <a:xfrm>
            <a:off x="548640" y="3794760"/>
            <a:ext cx="3566160" cy="2103120"/>
          </a:xfrm>
          <a:prstGeom prst="roundRect">
            <a:avLst>
              <a:gd name="adj" fmla="val 5217"/>
            </a:avLst>
          </a:prstGeom>
          <a:solidFill>
            <a:srgbClr val="FFE8E1"/>
          </a:solidFill>
          <a:ln w="12700">
            <a:solidFill>
              <a:srgbClr val="FFE8E1"/>
            </a:solidFill>
            <a:prstDash val="solid"/>
          </a:ln>
        </p:spPr>
      </p:sp>
      <p:sp>
        <p:nvSpPr>
          <p:cNvPr id="21" name="Shape 16"/>
          <p:cNvSpPr/>
          <p:nvPr/>
        </p:nvSpPr>
        <p:spPr>
          <a:xfrm>
            <a:off x="822960" y="4069080"/>
            <a:ext cx="685800" cy="685800"/>
          </a:xfrm>
          <a:prstGeom prst="ellipse">
            <a:avLst/>
          </a:prstGeom>
          <a:solidFill>
            <a:srgbClr val="FF7A59"/>
          </a:solidFill>
          <a:ln w="12700">
            <a:solidFill>
              <a:srgbClr val="FF7A59"/>
            </a:solidFill>
            <a:prstDash val="solid"/>
          </a:ln>
        </p:spPr>
      </p:sp>
      <p:pic>
        <p:nvPicPr>
          <p:cNvPr id="22" name="Image 3" descr="preencoded.png">    </p:cNvPr>
          <p:cNvPicPr>
            <a:picLocks noChangeAspect="1"/>
          </p:cNvPicPr>
          <p:nvPr/>
        </p:nvPicPr>
        <p:blipFill>
          <a:blip r:embed="rId4"/>
          <a:stretch>
            <a:fillRect/>
          </a:stretch>
        </p:blipFill>
        <p:spPr>
          <a:xfrm>
            <a:off x="987552" y="4233672"/>
            <a:ext cx="356616" cy="356616"/>
          </a:xfrm>
          <a:prstGeom prst="rect">
            <a:avLst/>
          </a:prstGeom>
        </p:spPr>
      </p:pic>
      <p:sp>
        <p:nvSpPr>
          <p:cNvPr id="23" name="Text 17"/>
          <p:cNvSpPr txBox="1"/>
          <p:nvPr/>
        </p:nvSpPr>
        <p:spPr>
          <a:xfrm>
            <a:off x="338328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4</a:t>
            </a:r>
            <a:endParaRPr lang="ja-JP" sz="2600" dirty="0"/>
          </a:p>
        </p:txBody>
      </p:sp>
      <p:sp>
        <p:nvSpPr>
          <p:cNvPr id="24" name="Text 18"/>
          <p:cNvSpPr txBox="1"/>
          <p:nvPr/>
        </p:nvSpPr>
        <p:spPr>
          <a:xfrm>
            <a:off x="82296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居眠りするときは，安眠する</a:t>
            </a:r>
            <a:endParaRPr lang="ja-JP" sz="1700" dirty="0"/>
          </a:p>
        </p:txBody>
      </p:sp>
      <p:sp>
        <p:nvSpPr>
          <p:cNvPr id="25" name="Shape 19"/>
          <p:cNvSpPr/>
          <p:nvPr/>
        </p:nvSpPr>
        <p:spPr>
          <a:xfrm>
            <a:off x="4297680" y="3794760"/>
            <a:ext cx="3566160" cy="2103120"/>
          </a:xfrm>
          <a:prstGeom prst="roundRect">
            <a:avLst>
              <a:gd name="adj" fmla="val 5217"/>
            </a:avLst>
          </a:prstGeom>
          <a:solidFill>
            <a:srgbClr val="E3F4F1"/>
          </a:solidFill>
          <a:ln w="12700">
            <a:solidFill>
              <a:srgbClr val="E3F4F1"/>
            </a:solidFill>
            <a:prstDash val="solid"/>
          </a:ln>
        </p:spPr>
      </p:sp>
      <p:sp>
        <p:nvSpPr>
          <p:cNvPr id="26" name="Shape 20"/>
          <p:cNvSpPr/>
          <p:nvPr/>
        </p:nvSpPr>
        <p:spPr>
          <a:xfrm>
            <a:off x="4572000" y="4069080"/>
            <a:ext cx="685800" cy="685800"/>
          </a:xfrm>
          <a:prstGeom prst="ellipse">
            <a:avLst/>
          </a:prstGeom>
          <a:solidFill>
            <a:srgbClr val="1A8F8A"/>
          </a:solidFill>
          <a:ln w="12700">
            <a:solidFill>
              <a:srgbClr val="1A8F8A"/>
            </a:solidFill>
            <a:prstDash val="solid"/>
          </a:ln>
        </p:spPr>
      </p:sp>
      <p:pic>
        <p:nvPicPr>
          <p:cNvPr id="27" name="Image 4" descr="preencoded.png">    </p:cNvPr>
          <p:cNvPicPr>
            <a:picLocks noChangeAspect="1"/>
          </p:cNvPicPr>
          <p:nvPr/>
        </p:nvPicPr>
        <p:blipFill>
          <a:blip r:embed="rId5"/>
          <a:stretch>
            <a:fillRect/>
          </a:stretch>
        </p:blipFill>
        <p:spPr>
          <a:xfrm>
            <a:off x="4736592" y="4233672"/>
            <a:ext cx="356616" cy="356616"/>
          </a:xfrm>
          <a:prstGeom prst="rect">
            <a:avLst/>
          </a:prstGeom>
        </p:spPr>
      </p:pic>
      <p:sp>
        <p:nvSpPr>
          <p:cNvPr id="28" name="Text 21"/>
          <p:cNvSpPr txBox="1"/>
          <p:nvPr/>
        </p:nvSpPr>
        <p:spPr>
          <a:xfrm>
            <a:off x="713232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5</a:t>
            </a:r>
            <a:endParaRPr lang="ja-JP" sz="2600" dirty="0"/>
          </a:p>
        </p:txBody>
      </p:sp>
      <p:sp>
        <p:nvSpPr>
          <p:cNvPr id="29" name="Text 22"/>
          <p:cNvSpPr txBox="1"/>
          <p:nvPr/>
        </p:nvSpPr>
        <p:spPr>
          <a:xfrm>
            <a:off x="457200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試験前には，今一度全体を見返し，大切な点については覚え直す</a:t>
            </a:r>
            <a:endParaRPr lang="ja-JP" sz="1700" dirty="0"/>
          </a:p>
        </p:txBody>
      </p:sp>
      <p:sp>
        <p:nvSpPr>
          <p:cNvPr id="30" name="Shape 23"/>
          <p:cNvSpPr/>
          <p:nvPr/>
        </p:nvSpPr>
        <p:spPr>
          <a:xfrm>
            <a:off x="8046720" y="3794760"/>
            <a:ext cx="3566160" cy="2103120"/>
          </a:xfrm>
          <a:prstGeom prst="roundRect">
            <a:avLst>
              <a:gd name="adj" fmla="val 5217"/>
            </a:avLst>
          </a:prstGeom>
          <a:solidFill>
            <a:srgbClr val="E3F4F1"/>
          </a:solidFill>
          <a:ln w="12700">
            <a:solidFill>
              <a:srgbClr val="E3F4F1"/>
            </a:solidFill>
            <a:prstDash val="solid"/>
          </a:ln>
        </p:spPr>
      </p:sp>
      <p:sp>
        <p:nvSpPr>
          <p:cNvPr id="31" name="Shape 24"/>
          <p:cNvSpPr/>
          <p:nvPr/>
        </p:nvSpPr>
        <p:spPr>
          <a:xfrm>
            <a:off x="8321040" y="4069080"/>
            <a:ext cx="685800" cy="685800"/>
          </a:xfrm>
          <a:prstGeom prst="ellipse">
            <a:avLst/>
          </a:prstGeom>
          <a:solidFill>
            <a:srgbClr val="0E3B4F"/>
          </a:solidFill>
          <a:ln w="12700">
            <a:solidFill>
              <a:srgbClr val="0E3B4F"/>
            </a:solidFill>
            <a:prstDash val="solid"/>
          </a:ln>
        </p:spPr>
      </p:sp>
      <p:pic>
        <p:nvPicPr>
          <p:cNvPr id="32" name="Image 5" descr="preencoded.png">    </p:cNvPr>
          <p:cNvPicPr>
            <a:picLocks noChangeAspect="1"/>
          </p:cNvPicPr>
          <p:nvPr/>
        </p:nvPicPr>
        <p:blipFill>
          <a:blip r:embed="rId6"/>
          <a:stretch>
            <a:fillRect/>
          </a:stretch>
        </p:blipFill>
        <p:spPr>
          <a:xfrm>
            <a:off x="8485632" y="4233672"/>
            <a:ext cx="356616" cy="356616"/>
          </a:xfrm>
          <a:prstGeom prst="rect">
            <a:avLst/>
          </a:prstGeom>
        </p:spPr>
      </p:pic>
      <p:sp>
        <p:nvSpPr>
          <p:cNvPr id="33" name="Text 25"/>
          <p:cNvSpPr txBox="1"/>
          <p:nvPr/>
        </p:nvSpPr>
        <p:spPr>
          <a:xfrm>
            <a:off x="1088136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6</a:t>
            </a:r>
            <a:endParaRPr lang="ja-JP" sz="2600" dirty="0"/>
          </a:p>
        </p:txBody>
      </p:sp>
      <p:sp>
        <p:nvSpPr>
          <p:cNvPr id="34" name="Text 26"/>
          <p:cNvSpPr txBox="1"/>
          <p:nvPr/>
        </p:nvSpPr>
        <p:spPr>
          <a:xfrm>
            <a:off x="832104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過去問は全て解き，わからないことは友人に聞いて，完全に消化する</a:t>
            </a:r>
            <a:endParaRPr lang="ja-JP"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指定教科書</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 https://a.r10.to/hRe8le</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13</a:t>
            </a:r>
            <a:endParaRPr lang="ja-JP" sz="1000" dirty="0"/>
          </a:p>
        </p:txBody>
      </p:sp>
      <p:sp>
        <p:nvSpPr>
          <p:cNvPr id="6" name="Shape 4"/>
          <p:cNvSpPr/>
          <p:nvPr/>
        </p:nvSpPr>
        <p:spPr>
          <a:xfrm>
            <a:off x="804672" y="1399032"/>
            <a:ext cx="3367605" cy="4700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7" name="Image 0" descr="松石 隆『水産資源学［二訂版］』の表紙">    </p:cNvPr>
          <p:cNvPicPr>
            <a:picLocks noChangeAspect="1"/>
          </p:cNvPicPr>
          <p:nvPr/>
        </p:nvPicPr>
        <p:blipFill>
          <a:blip r:embed="rId1"/>
          <a:stretch>
            <a:fillRect/>
          </a:stretch>
        </p:blipFill>
        <p:spPr>
          <a:xfrm>
            <a:off x="822960" y="1417320"/>
            <a:ext cx="3331029" cy="4663440"/>
          </a:xfrm>
          <a:prstGeom prst="rect">
            <a:avLst/>
          </a:prstGeom>
        </p:spPr>
      </p:pic>
      <p:sp>
        <p:nvSpPr>
          <p:cNvPr id="8" name="Text 5"/>
          <p:cNvSpPr txBox="1"/>
          <p:nvPr/>
        </p:nvSpPr>
        <p:spPr>
          <a:xfrm>
            <a:off x="4754880" y="1463040"/>
            <a:ext cx="6858000" cy="731520"/>
          </a:xfrm>
          <a:prstGeom prst="rect">
            <a:avLst/>
          </a:prstGeom>
          <a:noFill/>
          <a:ln/>
        </p:spPr>
        <p:txBody>
          <a:bodyPr wrap="square" lIns="0" tIns="0" rIns="0" bIns="0" rtlCol="0" anchor="ctr"/>
          <a:lstStyle/>
          <a:p>
            <a:pPr indent="0" marL="0">
              <a:buNone/>
            </a:pPr>
            <a:r>
              <a:rPr lang="ja-JP" altLang="en-US" sz="3200" b="1" dirty="0">
                <a:solidFill>
                  <a:srgbClr val="0E3B4F"/>
                </a:solidFill>
                <a:latin typeface="BIZ UDPGothic" pitchFamily="34" charset="0"/>
                <a:ea typeface="BIZ UDPGothic" pitchFamily="34" charset="-122"/>
                <a:cs typeface="BIZ UDPGothic" pitchFamily="34" charset="-120"/>
              </a:rPr>
              <a:t>水産資源学［二訂版］</a:t>
            </a:r>
            <a:endParaRPr lang="ja-JP" sz="3200" dirty="0"/>
          </a:p>
        </p:txBody>
      </p:sp>
      <p:sp>
        <p:nvSpPr>
          <p:cNvPr id="9" name="Text 6"/>
          <p:cNvSpPr txBox="1"/>
          <p:nvPr/>
        </p:nvSpPr>
        <p:spPr>
          <a:xfrm>
            <a:off x="4754880" y="2240280"/>
            <a:ext cx="6858000" cy="457200"/>
          </a:xfrm>
          <a:prstGeom prst="rect">
            <a:avLst/>
          </a:prstGeom>
          <a:noFill/>
          <a:ln/>
        </p:spPr>
        <p:txBody>
          <a:bodyPr wrap="square" lIns="0" tIns="0" rIns="0" bIns="0" rtlCol="0" anchor="ctr"/>
          <a:lstStyle/>
          <a:p>
            <a:pPr indent="0" marL="0">
              <a:buNone/>
            </a:pPr>
            <a:r>
              <a:rPr lang="ja-JP" altLang="en-US" sz="1800" dirty="0">
                <a:solidFill>
                  <a:srgbClr val="1F2D33"/>
                </a:solidFill>
                <a:latin typeface="BIZ UDPGothic" pitchFamily="34" charset="0"/>
                <a:ea typeface="BIZ UDPGothic" pitchFamily="34" charset="-122"/>
                <a:cs typeface="BIZ UDPGothic" pitchFamily="34" charset="-120"/>
              </a:rPr>
              <a:t>松石 隆 著　海文堂出版　2500円＋税</a:t>
            </a:r>
            <a:endParaRPr lang="ja-JP" sz="1800" dirty="0"/>
          </a:p>
        </p:txBody>
      </p:sp>
      <p:sp>
        <p:nvSpPr>
          <p:cNvPr id="10" name="Shape 7"/>
          <p:cNvSpPr/>
          <p:nvPr/>
        </p:nvSpPr>
        <p:spPr>
          <a:xfrm>
            <a:off x="4754880" y="3017520"/>
            <a:ext cx="4206240" cy="1371600"/>
          </a:xfrm>
          <a:prstGeom prst="roundRect">
            <a:avLst>
              <a:gd name="adj" fmla="val 8000"/>
            </a:avLst>
          </a:prstGeom>
          <a:solidFill>
            <a:srgbClr val="0E3B4F"/>
          </a:solidFill>
          <a:ln w="12700">
            <a:solidFill>
              <a:srgbClr val="0E3B4F"/>
            </a:solidFill>
            <a:prstDash val="solid"/>
          </a:ln>
        </p:spPr>
      </p:sp>
      <p:sp>
        <p:nvSpPr>
          <p:cNvPr id="11" name="Shape 8"/>
          <p:cNvSpPr/>
          <p:nvPr/>
        </p:nvSpPr>
        <p:spPr>
          <a:xfrm>
            <a:off x="4983480" y="3291840"/>
            <a:ext cx="731520" cy="731520"/>
          </a:xfrm>
          <a:prstGeom prst="ellipse">
            <a:avLst/>
          </a:prstGeom>
          <a:solidFill>
            <a:srgbClr val="FF7A59"/>
          </a:solidFill>
          <a:ln w="12700">
            <a:solidFill>
              <a:srgbClr val="FF7A59"/>
            </a:solidFill>
            <a:prstDash val="solid"/>
          </a:ln>
        </p:spPr>
      </p:sp>
      <p:pic>
        <p:nvPicPr>
          <p:cNvPr id="12" name="Image 1" descr="preencoded.png">    </p:cNvPr>
          <p:cNvPicPr>
            <a:picLocks noChangeAspect="1"/>
          </p:cNvPicPr>
          <p:nvPr/>
        </p:nvPicPr>
        <p:blipFill>
          <a:blip r:embed="rId2"/>
          <a:stretch>
            <a:fillRect/>
          </a:stretch>
        </p:blipFill>
        <p:spPr>
          <a:xfrm>
            <a:off x="5159045" y="3467405"/>
            <a:ext cx="380390" cy="380390"/>
          </a:xfrm>
          <a:prstGeom prst="rect">
            <a:avLst/>
          </a:prstGeom>
        </p:spPr>
      </p:pic>
      <p:sp>
        <p:nvSpPr>
          <p:cNvPr id="13" name="Text 9"/>
          <p:cNvSpPr txBox="1"/>
          <p:nvPr/>
        </p:nvSpPr>
        <p:spPr>
          <a:xfrm>
            <a:off x="5897880" y="3017520"/>
            <a:ext cx="3017520" cy="82296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本試験に持ち込み可</a:t>
            </a:r>
            <a:endParaRPr lang="ja-JP" sz="2000" dirty="0"/>
          </a:p>
        </p:txBody>
      </p:sp>
      <p:sp>
        <p:nvSpPr>
          <p:cNvPr id="14" name="Text 10"/>
          <p:cNvSpPr txBox="1"/>
          <p:nvPr/>
        </p:nvSpPr>
        <p:spPr>
          <a:xfrm>
            <a:off x="5897880" y="3749040"/>
            <a:ext cx="3017520" cy="457200"/>
          </a:xfrm>
          <a:prstGeom prst="rect">
            <a:avLst/>
          </a:prstGeom>
          <a:noFill/>
          <a:ln/>
        </p:spPr>
        <p:txBody>
          <a:bodyPr wrap="square" lIns="0" tIns="0" rIns="0" bIns="0" rtlCol="0" anchor="ctr"/>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旧版（初版）も指定教科書として可</a:t>
            </a:r>
            <a:endParaRPr lang="ja-JP" sz="1300" dirty="0"/>
          </a:p>
        </p:txBody>
      </p:sp>
      <p:sp>
        <p:nvSpPr>
          <p:cNvPr id="15" name="Shape 11"/>
          <p:cNvSpPr/>
          <p:nvPr/>
        </p:nvSpPr>
        <p:spPr>
          <a:xfrm>
            <a:off x="4754880" y="4617720"/>
            <a:ext cx="4206240" cy="1463040"/>
          </a:xfrm>
          <a:prstGeom prst="roundRect">
            <a:avLst>
              <a:gd name="adj" fmla="val 7500"/>
            </a:avLst>
          </a:prstGeom>
          <a:solidFill>
            <a:srgbClr val="E3F4F1"/>
          </a:solidFill>
          <a:ln w="12700">
            <a:solidFill>
              <a:srgbClr val="E3F4F1"/>
            </a:solidFill>
            <a:prstDash val="solid"/>
          </a:ln>
        </p:spPr>
      </p:sp>
      <p:sp>
        <p:nvSpPr>
          <p:cNvPr id="16" name="Text 12"/>
          <p:cNvSpPr txBox="1"/>
          <p:nvPr/>
        </p:nvSpPr>
        <p:spPr>
          <a:xfrm>
            <a:off x="4983480" y="4709160"/>
            <a:ext cx="3840480" cy="365760"/>
          </a:xfrm>
          <a:prstGeom prst="rect">
            <a:avLst/>
          </a:prstGeom>
          <a:noFill/>
          <a:ln/>
        </p:spPr>
        <p:txBody>
          <a:bodyPr wrap="square" lIns="0" tIns="0" rIns="0" bIns="0" rtlCol="0" anchor="ctr"/>
          <a:lstStyle/>
          <a:p>
            <a:pPr indent="0" marL="0">
              <a:buNone/>
            </a:pPr>
            <a:r>
              <a:rPr lang="ja-JP" altLang="en-US" sz="1500" b="1" dirty="0">
                <a:solidFill>
                  <a:srgbClr val="1A8F8A"/>
                </a:solidFill>
                <a:latin typeface="BIZ UDPGothic" pitchFamily="34" charset="0"/>
                <a:ea typeface="BIZ UDPGothic" pitchFamily="34" charset="-122"/>
                <a:cs typeface="BIZ UDPGothic" pitchFamily="34" charset="-120"/>
              </a:rPr>
              <a:t>教科書の構成</a:t>
            </a:r>
            <a:endParaRPr lang="ja-JP" sz="1500" dirty="0"/>
          </a:p>
        </p:txBody>
      </p:sp>
      <p:sp>
        <p:nvSpPr>
          <p:cNvPr id="17" name="Text 13"/>
          <p:cNvSpPr txBox="1"/>
          <p:nvPr/>
        </p:nvSpPr>
        <p:spPr>
          <a:xfrm>
            <a:off x="4983480" y="5074920"/>
            <a:ext cx="3840480" cy="9144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緒言，第1〜6章，練習問題，引用文献，索引。</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種名には英名と学名を付記</a:t>
            </a:r>
            <a:endParaRPr lang="ja-JP" sz="1300" dirty="0"/>
          </a:p>
        </p:txBody>
      </p:sp>
      <p:pic>
        <p:nvPicPr>
          <p:cNvPr id="18" name="Image 2" descr="指定教科書（楽天ブックス）へのQRコード">
            <a:hlinkClick r:id="rId4" tooltip=""/>
          </p:cNvPr>
          <p:cNvPicPr>
            <a:picLocks noChangeAspect="1"/>
          </p:cNvPicPr>
          <p:nvPr/>
        </p:nvPicPr>
        <p:blipFill>
          <a:blip r:embed="rId3"/>
          <a:stretch>
            <a:fillRect/>
          </a:stretch>
        </p:blipFill>
        <p:spPr>
          <a:xfrm>
            <a:off x="9326880" y="3017520"/>
            <a:ext cx="2103120" cy="2103120"/>
          </a:xfrm>
          <a:prstGeom prst="rect">
            <a:avLst/>
          </a:prstGeom>
        </p:spPr>
      </p:pic>
      <p:sp>
        <p:nvSpPr>
          <p:cNvPr id="19" name="Text 14"/>
          <p:cNvSpPr txBox="1"/>
          <p:nvPr/>
        </p:nvSpPr>
        <p:spPr>
          <a:xfrm>
            <a:off x="9326880" y="5212080"/>
            <a:ext cx="2103120" cy="320040"/>
          </a:xfrm>
          <a:prstGeom prst="rect">
            <a:avLst/>
          </a:prstGeom>
          <a:noFill/>
          <a:ln/>
        </p:spPr>
        <p:txBody>
          <a:bodyPr wrap="square" lIns="0" tIns="0" rIns="0" bIns="0" rtlCol="0" anchor="ctr"/>
          <a:lstStyle/>
          <a:p>
            <a:pPr algn="ctr" indent="0" marL="0">
              <a:buNone/>
            </a:pPr>
            <a:r>
              <a:rPr lang="ja-JP" altLang="en-US" sz="1300" b="1" dirty="0">
                <a:solidFill>
                  <a:srgbClr val="0E3B4F"/>
                </a:solidFill>
                <a:latin typeface="BIZ UDPGothic" pitchFamily="34" charset="0"/>
                <a:ea typeface="BIZ UDPGothic" pitchFamily="34" charset="-122"/>
                <a:cs typeface="BIZ UDPGothic" pitchFamily="34" charset="-120"/>
              </a:rPr>
              <a:t>楽天ブックス</a:t>
            </a:r>
            <a:endParaRPr lang="ja-JP" sz="1300" dirty="0"/>
          </a:p>
        </p:txBody>
      </p:sp>
      <p:sp>
        <p:nvSpPr>
          <p:cNvPr id="20" name="Text 15">
            <a:hlinkClick r:id="rId5" tooltip=""/>
          </p:cNvPr>
          <p:cNvSpPr txBox="1"/>
          <p:nvPr/>
        </p:nvSpPr>
        <p:spPr>
          <a:xfrm>
            <a:off x="9144000" y="5532120"/>
            <a:ext cx="2468880" cy="320040"/>
          </a:xfrm>
          <a:prstGeom prst="rect">
            <a:avLst/>
          </a:prstGeom>
          <a:noFill/>
          <a:ln/>
        </p:spPr>
        <p:txBody>
          <a:bodyPr wrap="square" lIns="0" tIns="0" rIns="0" bIns="0" rtlCol="0" anchor="ctr"/>
          <a:lstStyle/>
          <a:p>
            <a:pPr algn="ctr" indent="0" marL="0">
              <a:buNone/>
            </a:pPr>
            <a:r>
              <a:rPr lang="ja-JP" altLang="en-US" sz="11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https://a.r10.to/hRe8le</a:t>
            </a:r>
            <a:endParaRPr lang="ja-JP"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教科書の使い方（オススメ）</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14</a:t>
            </a:r>
            <a:endParaRPr lang="ja-JP" sz="1000" dirty="0"/>
          </a:p>
        </p:txBody>
      </p:sp>
      <p:sp>
        <p:nvSpPr>
          <p:cNvPr id="5" name="Shape 3"/>
          <p:cNvSpPr/>
          <p:nvPr/>
        </p:nvSpPr>
        <p:spPr>
          <a:xfrm>
            <a:off x="548640" y="1417320"/>
            <a:ext cx="7589520" cy="960120"/>
          </a:xfrm>
          <a:prstGeom prst="roundRect">
            <a:avLst>
              <a:gd name="adj" fmla="val 11429"/>
            </a:avLst>
          </a:prstGeom>
          <a:solidFill>
            <a:srgbClr val="0E3B4F"/>
          </a:solidFill>
          <a:ln w="12700">
            <a:solidFill>
              <a:srgbClr val="0E3B4F"/>
            </a:solidFill>
            <a:prstDash val="solid"/>
          </a:ln>
        </p:spPr>
      </p:sp>
      <p:sp>
        <p:nvSpPr>
          <p:cNvPr id="6" name="Text 4"/>
          <p:cNvSpPr txBox="1"/>
          <p:nvPr/>
        </p:nvSpPr>
        <p:spPr>
          <a:xfrm>
            <a:off x="822960" y="1417320"/>
            <a:ext cx="7132320" cy="960120"/>
          </a:xfrm>
          <a:prstGeom prst="rect">
            <a:avLst/>
          </a:prstGeom>
          <a:noFill/>
          <a:ln/>
        </p:spPr>
        <p:txBody>
          <a:bodyPr wrap="square" lIns="0" tIns="0" rIns="0" bIns="0" rtlCol="0" anchor="ctr"/>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教科書は，記憶の一部として育てる</a:t>
            </a:r>
            <a:endParaRPr lang="ja-JP" sz="2400" dirty="0"/>
          </a:p>
        </p:txBody>
      </p:sp>
      <p:sp>
        <p:nvSpPr>
          <p:cNvPr id="7" name="Shape 5"/>
          <p:cNvSpPr/>
          <p:nvPr/>
        </p:nvSpPr>
        <p:spPr>
          <a:xfrm>
            <a:off x="548640" y="2651760"/>
            <a:ext cx="3703320" cy="1005840"/>
          </a:xfrm>
          <a:prstGeom prst="roundRect">
            <a:avLst>
              <a:gd name="adj" fmla="val 10909"/>
            </a:avLst>
          </a:prstGeom>
          <a:solidFill>
            <a:srgbClr val="E3F4F1"/>
          </a:solidFill>
          <a:ln w="12700">
            <a:solidFill>
              <a:srgbClr val="E3F4F1"/>
            </a:solidFill>
            <a:prstDash val="solid"/>
          </a:ln>
        </p:spPr>
      </p:sp>
      <p:sp>
        <p:nvSpPr>
          <p:cNvPr id="8" name="Shape 6"/>
          <p:cNvSpPr/>
          <p:nvPr/>
        </p:nvSpPr>
        <p:spPr>
          <a:xfrm>
            <a:off x="731520" y="2816352"/>
            <a:ext cx="676656" cy="676656"/>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93917" y="2978749"/>
            <a:ext cx="351861" cy="351861"/>
          </a:xfrm>
          <a:prstGeom prst="rect">
            <a:avLst/>
          </a:prstGeom>
        </p:spPr>
      </p:pic>
      <p:sp>
        <p:nvSpPr>
          <p:cNvPr id="10" name="Text 7"/>
          <p:cNvSpPr txBox="1"/>
          <p:nvPr/>
        </p:nvSpPr>
        <p:spPr>
          <a:xfrm>
            <a:off x="15544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書き込む</a:t>
            </a:r>
            <a:endParaRPr lang="ja-JP" sz="1700" dirty="0"/>
          </a:p>
        </p:txBody>
      </p:sp>
      <p:sp>
        <p:nvSpPr>
          <p:cNvPr id="11" name="Shape 8"/>
          <p:cNvSpPr/>
          <p:nvPr/>
        </p:nvSpPr>
        <p:spPr>
          <a:xfrm>
            <a:off x="4434840" y="2651760"/>
            <a:ext cx="3703320" cy="1005840"/>
          </a:xfrm>
          <a:prstGeom prst="roundRect">
            <a:avLst>
              <a:gd name="adj" fmla="val 10909"/>
            </a:avLst>
          </a:prstGeom>
          <a:solidFill>
            <a:srgbClr val="E3F4F1"/>
          </a:solidFill>
          <a:ln w="12700">
            <a:solidFill>
              <a:srgbClr val="E3F4F1"/>
            </a:solidFill>
            <a:prstDash val="solid"/>
          </a:ln>
        </p:spPr>
      </p:sp>
      <p:sp>
        <p:nvSpPr>
          <p:cNvPr id="12" name="Shape 9"/>
          <p:cNvSpPr/>
          <p:nvPr/>
        </p:nvSpPr>
        <p:spPr>
          <a:xfrm>
            <a:off x="4617720" y="2816352"/>
            <a:ext cx="676656" cy="676656"/>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4780117" y="2978749"/>
            <a:ext cx="351861" cy="351861"/>
          </a:xfrm>
          <a:prstGeom prst="rect">
            <a:avLst/>
          </a:prstGeom>
        </p:spPr>
      </p:pic>
      <p:sp>
        <p:nvSpPr>
          <p:cNvPr id="14" name="Text 10"/>
          <p:cNvSpPr txBox="1"/>
          <p:nvPr/>
        </p:nvSpPr>
        <p:spPr>
          <a:xfrm>
            <a:off x="54406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マーカーを引く（最低限）</a:t>
            </a:r>
            <a:endParaRPr lang="ja-JP" sz="1700" dirty="0"/>
          </a:p>
        </p:txBody>
      </p:sp>
      <p:sp>
        <p:nvSpPr>
          <p:cNvPr id="15" name="Shape 11"/>
          <p:cNvSpPr/>
          <p:nvPr/>
        </p:nvSpPr>
        <p:spPr>
          <a:xfrm>
            <a:off x="548640" y="3840480"/>
            <a:ext cx="3703320" cy="1005840"/>
          </a:xfrm>
          <a:prstGeom prst="roundRect">
            <a:avLst>
              <a:gd name="adj" fmla="val 10909"/>
            </a:avLst>
          </a:prstGeom>
          <a:solidFill>
            <a:srgbClr val="E3F4F1"/>
          </a:solidFill>
          <a:ln w="12700">
            <a:solidFill>
              <a:srgbClr val="E3F4F1"/>
            </a:solidFill>
            <a:prstDash val="solid"/>
          </a:ln>
        </p:spPr>
      </p:sp>
      <p:sp>
        <p:nvSpPr>
          <p:cNvPr id="16" name="Shape 12"/>
          <p:cNvSpPr/>
          <p:nvPr/>
        </p:nvSpPr>
        <p:spPr>
          <a:xfrm>
            <a:off x="731520" y="4005072"/>
            <a:ext cx="676656" cy="676656"/>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93917" y="4167469"/>
            <a:ext cx="351861" cy="351861"/>
          </a:xfrm>
          <a:prstGeom prst="rect">
            <a:avLst/>
          </a:prstGeom>
        </p:spPr>
      </p:pic>
      <p:sp>
        <p:nvSpPr>
          <p:cNvPr id="18" name="Text 13"/>
          <p:cNvSpPr txBox="1"/>
          <p:nvPr/>
        </p:nvSpPr>
        <p:spPr>
          <a:xfrm>
            <a:off x="15544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貼り込む</a:t>
            </a:r>
            <a:endParaRPr lang="ja-JP" sz="1700" dirty="0"/>
          </a:p>
        </p:txBody>
      </p:sp>
      <p:sp>
        <p:nvSpPr>
          <p:cNvPr id="19" name="Shape 14"/>
          <p:cNvSpPr/>
          <p:nvPr/>
        </p:nvSpPr>
        <p:spPr>
          <a:xfrm>
            <a:off x="4434840" y="3840480"/>
            <a:ext cx="3703320" cy="1005840"/>
          </a:xfrm>
          <a:prstGeom prst="roundRect">
            <a:avLst>
              <a:gd name="adj" fmla="val 10909"/>
            </a:avLst>
          </a:prstGeom>
          <a:solidFill>
            <a:srgbClr val="E3F4F1"/>
          </a:solidFill>
          <a:ln w="12700">
            <a:solidFill>
              <a:srgbClr val="E3F4F1"/>
            </a:solidFill>
            <a:prstDash val="solid"/>
          </a:ln>
        </p:spPr>
      </p:sp>
      <p:sp>
        <p:nvSpPr>
          <p:cNvPr id="20" name="Shape 15"/>
          <p:cNvSpPr/>
          <p:nvPr/>
        </p:nvSpPr>
        <p:spPr>
          <a:xfrm>
            <a:off x="4617720" y="4005072"/>
            <a:ext cx="676656" cy="676656"/>
          </a:xfrm>
          <a:prstGeom prst="ellipse">
            <a:avLst/>
          </a:prstGeom>
          <a:solidFill>
            <a:srgbClr val="1A8F8A"/>
          </a:solidFill>
          <a:ln w="12700">
            <a:solidFill>
              <a:srgbClr val="1A8F8A"/>
            </a:solidFill>
            <a:prstDash val="solid"/>
          </a:ln>
        </p:spPr>
      </p:sp>
      <p:pic>
        <p:nvPicPr>
          <p:cNvPr id="21" name="Image 3" descr="preencoded.png">    </p:cNvPr>
          <p:cNvPicPr>
            <a:picLocks noChangeAspect="1"/>
          </p:cNvPicPr>
          <p:nvPr/>
        </p:nvPicPr>
        <p:blipFill>
          <a:blip r:embed="rId4"/>
          <a:stretch>
            <a:fillRect/>
          </a:stretch>
        </p:blipFill>
        <p:spPr>
          <a:xfrm>
            <a:off x="4780117" y="4167469"/>
            <a:ext cx="351861" cy="351861"/>
          </a:xfrm>
          <a:prstGeom prst="rect">
            <a:avLst/>
          </a:prstGeom>
        </p:spPr>
      </p:pic>
      <p:sp>
        <p:nvSpPr>
          <p:cNvPr id="22" name="Text 16"/>
          <p:cNvSpPr txBox="1"/>
          <p:nvPr/>
        </p:nvSpPr>
        <p:spPr>
          <a:xfrm>
            <a:off x="54406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付箋を付ける</a:t>
            </a:r>
            <a:endParaRPr lang="ja-JP" sz="1700" dirty="0"/>
          </a:p>
        </p:txBody>
      </p:sp>
      <p:sp>
        <p:nvSpPr>
          <p:cNvPr id="23" name="Shape 17"/>
          <p:cNvSpPr/>
          <p:nvPr/>
        </p:nvSpPr>
        <p:spPr>
          <a:xfrm>
            <a:off x="548640" y="5029200"/>
            <a:ext cx="3703320" cy="1005840"/>
          </a:xfrm>
          <a:prstGeom prst="roundRect">
            <a:avLst>
              <a:gd name="adj" fmla="val 10909"/>
            </a:avLst>
          </a:prstGeom>
          <a:solidFill>
            <a:srgbClr val="E3F4F1"/>
          </a:solidFill>
          <a:ln w="12700">
            <a:solidFill>
              <a:srgbClr val="E3F4F1"/>
            </a:solidFill>
            <a:prstDash val="solid"/>
          </a:ln>
        </p:spPr>
      </p:sp>
      <p:sp>
        <p:nvSpPr>
          <p:cNvPr id="24" name="Shape 18"/>
          <p:cNvSpPr/>
          <p:nvPr/>
        </p:nvSpPr>
        <p:spPr>
          <a:xfrm>
            <a:off x="731520" y="5193792"/>
            <a:ext cx="676656" cy="676656"/>
          </a:xfrm>
          <a:prstGeom prst="ellipse">
            <a:avLst/>
          </a:prstGeom>
          <a:solidFill>
            <a:srgbClr val="0E3B4F"/>
          </a:solidFill>
          <a:ln w="12700">
            <a:solidFill>
              <a:srgbClr val="0E3B4F"/>
            </a:solidFill>
            <a:prstDash val="solid"/>
          </a:ln>
        </p:spPr>
      </p:sp>
      <p:pic>
        <p:nvPicPr>
          <p:cNvPr id="25" name="Image 4" descr="preencoded.png">    </p:cNvPr>
          <p:cNvPicPr>
            <a:picLocks noChangeAspect="1"/>
          </p:cNvPicPr>
          <p:nvPr/>
        </p:nvPicPr>
        <p:blipFill>
          <a:blip r:embed="rId5"/>
          <a:stretch>
            <a:fillRect/>
          </a:stretch>
        </p:blipFill>
        <p:spPr>
          <a:xfrm>
            <a:off x="893917" y="5356189"/>
            <a:ext cx="351861" cy="351861"/>
          </a:xfrm>
          <a:prstGeom prst="rect">
            <a:avLst/>
          </a:prstGeom>
        </p:spPr>
      </p:pic>
      <p:sp>
        <p:nvSpPr>
          <p:cNvPr id="26" name="Text 19"/>
          <p:cNvSpPr txBox="1"/>
          <p:nvPr/>
        </p:nvSpPr>
        <p:spPr>
          <a:xfrm>
            <a:off x="15544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忘れたら見返す</a:t>
            </a:r>
            <a:endParaRPr lang="ja-JP" sz="1700" dirty="0"/>
          </a:p>
        </p:txBody>
      </p:sp>
      <p:sp>
        <p:nvSpPr>
          <p:cNvPr id="27" name="Shape 20"/>
          <p:cNvSpPr/>
          <p:nvPr/>
        </p:nvSpPr>
        <p:spPr>
          <a:xfrm>
            <a:off x="4434840" y="5029200"/>
            <a:ext cx="3703320" cy="1005840"/>
          </a:xfrm>
          <a:prstGeom prst="roundRect">
            <a:avLst>
              <a:gd name="adj" fmla="val 10909"/>
            </a:avLst>
          </a:prstGeom>
          <a:solidFill>
            <a:srgbClr val="FFE8E1"/>
          </a:solidFill>
          <a:ln w="12700">
            <a:solidFill>
              <a:srgbClr val="FFE8E1"/>
            </a:solidFill>
            <a:prstDash val="solid"/>
          </a:ln>
        </p:spPr>
      </p:sp>
      <p:sp>
        <p:nvSpPr>
          <p:cNvPr id="28" name="Shape 21"/>
          <p:cNvSpPr/>
          <p:nvPr/>
        </p:nvSpPr>
        <p:spPr>
          <a:xfrm>
            <a:off x="4617720" y="5193792"/>
            <a:ext cx="676656" cy="676656"/>
          </a:xfrm>
          <a:prstGeom prst="ellipse">
            <a:avLst/>
          </a:prstGeom>
          <a:solidFill>
            <a:srgbClr val="FF7A59"/>
          </a:solidFill>
          <a:ln w="12700">
            <a:solidFill>
              <a:srgbClr val="FF7A59"/>
            </a:solidFill>
            <a:prstDash val="solid"/>
          </a:ln>
        </p:spPr>
      </p:sp>
      <p:pic>
        <p:nvPicPr>
          <p:cNvPr id="29" name="Image 5" descr="preencoded.png">    </p:cNvPr>
          <p:cNvPicPr>
            <a:picLocks noChangeAspect="1"/>
          </p:cNvPicPr>
          <p:nvPr/>
        </p:nvPicPr>
        <p:blipFill>
          <a:blip r:embed="rId6"/>
          <a:stretch>
            <a:fillRect/>
          </a:stretch>
        </p:blipFill>
        <p:spPr>
          <a:xfrm>
            <a:off x="4780117" y="5356189"/>
            <a:ext cx="351861" cy="351861"/>
          </a:xfrm>
          <a:prstGeom prst="rect">
            <a:avLst/>
          </a:prstGeom>
        </p:spPr>
      </p:pic>
      <p:sp>
        <p:nvSpPr>
          <p:cNvPr id="30" name="Text 22"/>
          <p:cNvSpPr txBox="1"/>
          <p:nvPr/>
        </p:nvSpPr>
        <p:spPr>
          <a:xfrm>
            <a:off x="54406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D9573A"/>
                </a:solidFill>
                <a:latin typeface="BIZ UDPGothic" pitchFamily="34" charset="0"/>
                <a:ea typeface="BIZ UDPGothic" pitchFamily="34" charset="-122"/>
                <a:cs typeface="BIZ UDPGothic" pitchFamily="34" charset="-120"/>
              </a:rPr>
              <a:t>捨てない</a:t>
            </a:r>
            <a:endParaRPr lang="ja-JP" sz="1700" dirty="0"/>
          </a:p>
        </p:txBody>
      </p:sp>
      <p:sp>
        <p:nvSpPr>
          <p:cNvPr id="31" name="Shape 23"/>
          <p:cNvSpPr/>
          <p:nvPr/>
        </p:nvSpPr>
        <p:spPr>
          <a:xfrm>
            <a:off x="8668512" y="1536192"/>
            <a:ext cx="3041033" cy="42428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32" name="Image 6" descr="松石 隆『水産資源学［二訂版］』の表紙">    </p:cNvPr>
          <p:cNvPicPr>
            <a:picLocks noChangeAspect="1"/>
          </p:cNvPicPr>
          <p:nvPr/>
        </p:nvPicPr>
        <p:blipFill>
          <a:blip r:embed="rId7"/>
          <a:stretch>
            <a:fillRect/>
          </a:stretch>
        </p:blipFill>
        <p:spPr>
          <a:xfrm>
            <a:off x="8686800" y="1554480"/>
            <a:ext cx="3004457" cy="4206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指定図書（試験持ち込み不可）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15</a:t>
            </a:r>
            <a:endParaRPr lang="ja-JP" sz="1000" dirty="0"/>
          </a:p>
        </p:txBody>
      </p:sp>
      <p:sp>
        <p:nvSpPr>
          <p:cNvPr id="6" name="Shape 4"/>
          <p:cNvSpPr/>
          <p:nvPr/>
        </p:nvSpPr>
        <p:spPr>
          <a:xfrm>
            <a:off x="548640" y="1371600"/>
            <a:ext cx="3566160" cy="4800600"/>
          </a:xfrm>
          <a:prstGeom prst="roundRect">
            <a:avLst>
              <a:gd name="adj" fmla="val 3077"/>
            </a:avLst>
          </a:prstGeom>
          <a:solidFill>
            <a:srgbClr val="E3F4F1"/>
          </a:solidFill>
          <a:ln w="12700">
            <a:solidFill>
              <a:srgbClr val="E3F4F1"/>
            </a:solidFill>
            <a:prstDash val="solid"/>
          </a:ln>
        </p:spPr>
      </p:sp>
      <p:sp>
        <p:nvSpPr>
          <p:cNvPr id="7" name="Shape 5"/>
          <p:cNvSpPr/>
          <p:nvPr/>
        </p:nvSpPr>
        <p:spPr>
          <a:xfrm>
            <a:off x="804672" y="1627632"/>
            <a:ext cx="1711216"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8" name="Image 0" descr="片山知史・松石 隆『沿岸資源調査法』の表紙">    </p:cNvPr>
          <p:cNvPicPr>
            <a:picLocks noChangeAspect="1"/>
          </p:cNvPicPr>
          <p:nvPr/>
        </p:nvPicPr>
        <p:blipFill>
          <a:blip r:embed="rId1"/>
          <a:stretch>
            <a:fillRect/>
          </a:stretch>
        </p:blipFill>
        <p:spPr>
          <a:xfrm>
            <a:off x="822960" y="1645920"/>
            <a:ext cx="1674640" cy="2377440"/>
          </a:xfrm>
          <a:prstGeom prst="rect">
            <a:avLst/>
          </a:prstGeom>
        </p:spPr>
      </p:pic>
      <p:pic>
        <p:nvPicPr>
          <p:cNvPr id="9" name="Image 1" descr="『沿岸資源調査法』（楽天ブックス）へのQRコード">
            <a:hlinkClick r:id="rId3" tooltip=""/>
          </p:cNvPr>
          <p:cNvPicPr>
            <a:picLocks noChangeAspect="1"/>
          </p:cNvPicPr>
          <p:nvPr/>
        </p:nvPicPr>
        <p:blipFill>
          <a:blip r:embed="rId2"/>
          <a:stretch>
            <a:fillRect/>
          </a:stretch>
        </p:blipFill>
        <p:spPr>
          <a:xfrm>
            <a:off x="2697480" y="2697480"/>
            <a:ext cx="1188720" cy="1188720"/>
          </a:xfrm>
          <a:prstGeom prst="rect">
            <a:avLst/>
          </a:prstGeom>
        </p:spPr>
      </p:pic>
      <p:sp>
        <p:nvSpPr>
          <p:cNvPr id="10" name="Text 6"/>
          <p:cNvSpPr txBox="1"/>
          <p:nvPr/>
        </p:nvSpPr>
        <p:spPr>
          <a:xfrm>
            <a:off x="82296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沿岸資源調査法</a:t>
            </a:r>
            <a:endParaRPr lang="ja-JP" sz="1400" dirty="0"/>
          </a:p>
        </p:txBody>
      </p:sp>
      <p:sp>
        <p:nvSpPr>
          <p:cNvPr id="11" name="Text 7"/>
          <p:cNvSpPr txBox="1"/>
          <p:nvPr/>
        </p:nvSpPr>
        <p:spPr>
          <a:xfrm>
            <a:off x="82296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片山知史・松石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恒星社厚生閣　2500円＋税</a:t>
            </a:r>
            <a:endParaRPr lang="ja-JP" sz="1300" dirty="0"/>
          </a:p>
        </p:txBody>
      </p:sp>
      <p:sp>
        <p:nvSpPr>
          <p:cNvPr id="12" name="Text 8">
            <a:hlinkClick r:id="rId4" tooltip=""/>
          </p:cNvPr>
          <p:cNvSpPr txBox="1"/>
          <p:nvPr/>
        </p:nvSpPr>
        <p:spPr>
          <a:xfrm>
            <a:off x="82296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https://a.r10.to/hMbQOn</a:t>
            </a:r>
            <a:endParaRPr lang="ja-JP" sz="1100" dirty="0"/>
          </a:p>
        </p:txBody>
      </p:sp>
      <p:sp>
        <p:nvSpPr>
          <p:cNvPr id="13" name="Shape 9"/>
          <p:cNvSpPr/>
          <p:nvPr/>
        </p:nvSpPr>
        <p:spPr>
          <a:xfrm>
            <a:off x="4297680" y="1371600"/>
            <a:ext cx="3566160" cy="4800600"/>
          </a:xfrm>
          <a:prstGeom prst="roundRect">
            <a:avLst>
              <a:gd name="adj" fmla="val 3077"/>
            </a:avLst>
          </a:prstGeom>
          <a:solidFill>
            <a:srgbClr val="E3F4F1"/>
          </a:solidFill>
          <a:ln w="12700">
            <a:solidFill>
              <a:srgbClr val="E3F4F1"/>
            </a:solidFill>
            <a:prstDash val="solid"/>
          </a:ln>
        </p:spPr>
      </p:sp>
      <p:sp>
        <p:nvSpPr>
          <p:cNvPr id="14" name="Shape 10"/>
          <p:cNvSpPr/>
          <p:nvPr/>
        </p:nvSpPr>
        <p:spPr>
          <a:xfrm>
            <a:off x="4553712" y="1627632"/>
            <a:ext cx="1740834"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15" name="Image 2" descr="芳山 拓『釣りがつなぐ希少魚の保全と地域振興』の表紙">    </p:cNvPr>
          <p:cNvPicPr>
            <a:picLocks noChangeAspect="1"/>
          </p:cNvPicPr>
          <p:nvPr/>
        </p:nvPicPr>
        <p:blipFill>
          <a:blip r:embed="rId5"/>
          <a:stretch>
            <a:fillRect/>
          </a:stretch>
        </p:blipFill>
        <p:spPr>
          <a:xfrm>
            <a:off x="4572000" y="1645920"/>
            <a:ext cx="1704258" cy="2377440"/>
          </a:xfrm>
          <a:prstGeom prst="rect">
            <a:avLst/>
          </a:prstGeom>
        </p:spPr>
      </p:pic>
      <p:pic>
        <p:nvPicPr>
          <p:cNvPr id="16" name="Image 3" descr="『釣りがつなぐ希少魚の保全と地域振興』（楽天ブックス）へのQRコード">
            <a:hlinkClick r:id="rId7" tooltip=""/>
          </p:cNvPr>
          <p:cNvPicPr>
            <a:picLocks noChangeAspect="1"/>
          </p:cNvPicPr>
          <p:nvPr/>
        </p:nvPicPr>
        <p:blipFill>
          <a:blip r:embed="rId6"/>
          <a:stretch>
            <a:fillRect/>
          </a:stretch>
        </p:blipFill>
        <p:spPr>
          <a:xfrm>
            <a:off x="6446520" y="2697480"/>
            <a:ext cx="1188720" cy="1188720"/>
          </a:xfrm>
          <a:prstGeom prst="rect">
            <a:avLst/>
          </a:prstGeom>
        </p:spPr>
      </p:pic>
      <p:sp>
        <p:nvSpPr>
          <p:cNvPr id="17" name="Text 11"/>
          <p:cNvSpPr txBox="1"/>
          <p:nvPr/>
        </p:nvSpPr>
        <p:spPr>
          <a:xfrm>
            <a:off x="457200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釣りがつなぐ希少魚の保全と地域振興</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―然別湖の固有種ミヤベイワナに学ぶ―</a:t>
            </a:r>
            <a:endParaRPr lang="ja-JP" sz="1400" dirty="0"/>
          </a:p>
        </p:txBody>
      </p:sp>
      <p:sp>
        <p:nvSpPr>
          <p:cNvPr id="18" name="Text 12"/>
          <p:cNvSpPr txBox="1"/>
          <p:nvPr/>
        </p:nvSpPr>
        <p:spPr>
          <a:xfrm>
            <a:off x="457200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芳山 拓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19" name="Text 13">
            <a:hlinkClick r:id="rId8" tooltip=""/>
          </p:cNvPr>
          <p:cNvSpPr txBox="1"/>
          <p:nvPr/>
        </p:nvSpPr>
        <p:spPr>
          <a:xfrm>
            <a:off x="457200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https://a.r10.to/hUJunw</a:t>
            </a:r>
            <a:endParaRPr lang="ja-JP" sz="1100" dirty="0"/>
          </a:p>
        </p:txBody>
      </p:sp>
      <p:sp>
        <p:nvSpPr>
          <p:cNvPr id="20" name="Shape 14"/>
          <p:cNvSpPr/>
          <p:nvPr/>
        </p:nvSpPr>
        <p:spPr>
          <a:xfrm>
            <a:off x="8046720" y="1371600"/>
            <a:ext cx="3566160" cy="4800600"/>
          </a:xfrm>
          <a:prstGeom prst="roundRect">
            <a:avLst>
              <a:gd name="adj" fmla="val 3077"/>
            </a:avLst>
          </a:prstGeom>
          <a:solidFill>
            <a:srgbClr val="E3F4F1"/>
          </a:solidFill>
          <a:ln w="12700">
            <a:solidFill>
              <a:srgbClr val="E3F4F1"/>
            </a:solidFill>
            <a:prstDash val="solid"/>
          </a:ln>
        </p:spPr>
      </p:sp>
      <p:sp>
        <p:nvSpPr>
          <p:cNvPr id="21" name="Shape 15"/>
          <p:cNvSpPr/>
          <p:nvPr/>
        </p:nvSpPr>
        <p:spPr>
          <a:xfrm>
            <a:off x="8302752" y="1627632"/>
            <a:ext cx="1726895"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22" name="Image 4" descr="松石 隆『出動！イルカ・クジラ110番』の表紙">    </p:cNvPr>
          <p:cNvPicPr>
            <a:picLocks noChangeAspect="1"/>
          </p:cNvPicPr>
          <p:nvPr/>
        </p:nvPicPr>
        <p:blipFill>
          <a:blip r:embed="rId9"/>
          <a:stretch>
            <a:fillRect/>
          </a:stretch>
        </p:blipFill>
        <p:spPr>
          <a:xfrm>
            <a:off x="8321040" y="1645920"/>
            <a:ext cx="1690319" cy="2377440"/>
          </a:xfrm>
          <a:prstGeom prst="rect">
            <a:avLst/>
          </a:prstGeom>
        </p:spPr>
      </p:pic>
      <p:pic>
        <p:nvPicPr>
          <p:cNvPr id="23" name="Image 5" descr="『出動！イルカ・クジラ110番』（楽天ブックス）へのQRコード">
            <a:hlinkClick r:id="rId11" tooltip=""/>
          </p:cNvPr>
          <p:cNvPicPr>
            <a:picLocks noChangeAspect="1"/>
          </p:cNvPicPr>
          <p:nvPr/>
        </p:nvPicPr>
        <p:blipFill>
          <a:blip r:embed="rId10"/>
          <a:stretch>
            <a:fillRect/>
          </a:stretch>
        </p:blipFill>
        <p:spPr>
          <a:xfrm>
            <a:off x="10195560" y="2697480"/>
            <a:ext cx="1188720" cy="1188720"/>
          </a:xfrm>
          <a:prstGeom prst="rect">
            <a:avLst/>
          </a:prstGeom>
        </p:spPr>
      </p:pic>
      <p:sp>
        <p:nvSpPr>
          <p:cNvPr id="24" name="Text 16"/>
          <p:cNvSpPr txBox="1"/>
          <p:nvPr/>
        </p:nvSpPr>
        <p:spPr>
          <a:xfrm>
            <a:off x="832104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北水ブックス　出動！イルカ・クジラ110番</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―海岸線3066kmから視えた寄鯨の科学</a:t>
            </a:r>
            <a:endParaRPr lang="ja-JP" sz="1400" dirty="0"/>
          </a:p>
        </p:txBody>
      </p:sp>
      <p:sp>
        <p:nvSpPr>
          <p:cNvPr id="25" name="Text 17"/>
          <p:cNvSpPr txBox="1"/>
          <p:nvPr/>
        </p:nvSpPr>
        <p:spPr>
          <a:xfrm>
            <a:off x="832104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26" name="Text 18">
            <a:hlinkClick r:id="rId12" tooltip=""/>
          </p:cNvPr>
          <p:cNvSpPr txBox="1"/>
          <p:nvPr/>
        </p:nvSpPr>
        <p:spPr>
          <a:xfrm>
            <a:off x="832104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https://a.r10.to/h6IY3K</a:t>
            </a:r>
            <a:endParaRPr lang="ja-JP"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函館山からの夜景">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txBox="1"/>
          <p:nvPr/>
        </p:nvSpPr>
        <p:spPr>
          <a:xfrm>
            <a:off x="457200" y="6126480"/>
            <a:ext cx="4572000" cy="502920"/>
          </a:xfrm>
          <a:prstGeom prst="rect">
            <a:avLst/>
          </a:prstGeom>
          <a:noFill/>
          <a:ln/>
          <a:effectLst>
            <a:outerShdw sx="100000" sy="100000" kx="0" ky="0" algn="bl" rotWithShape="0" blurRad="50800" dist="12700" dir="5400000">
              <a:srgbClr val="000000">
                <a:alpha val="60000"/>
              </a:srgbClr>
            </a:outerShdw>
          </a:effectLst>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函館山からの夜景</a:t>
            </a:r>
            <a:endParaRPr lang="ja-JP"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水産資源学 ガイダンス・はじめに 2026</dc:title>
  <dc:subject>PptxGenJS Presentation</dc:subject>
  <dc:creator>松石 隆</dc:creator>
  <cp:lastModifiedBy>松石 隆</cp:lastModifiedBy>
  <cp:revision>1</cp:revision>
  <dcterms:created xsi:type="dcterms:W3CDTF">2026-09-27T05:02:58Z</dcterms:created>
  <dcterms:modified xsi:type="dcterms:W3CDTF">2026-09-27T05:02:58Z</dcterms:modified>
</cp:coreProperties>
</file>